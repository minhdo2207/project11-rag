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280" r:id="rId25"/>
  </p:sldIdLst>
  <p:sldSz cx="9144000" cy="5143500" type="screen16x9"/>
  <p:notesSz cx="6858000" cy="9144000"/>
  <p:embeddedFontLst>
    <p:embeddedFont>
      <p:font typeface="Lato" panose="020F0502020204030203" pitchFamily="34" charset="0"/>
      <p: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0D4065-B25F-4A6F-8AB5-7E187B4C6DDA}">
  <a:tblStyle styleId="{DC0D4065-B25F-4A6F-8AB5-7E187B4C6DD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59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Good morning, we are the Project 11 team. Today we talk about retrieval-augmented generation: the basic concepts, and how RAG can be used to reduce hallucination.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Our project has two tasks: first, the basic concepts of retrieval-augmented generation, and second, using RAG to mitigate hallucination. The talk follows one line: LLMs hallucinate, RAG helps but not always, so we study which parts of a RAG pipeline actually reduce hallucination, on a general benchmark and on malicious PyPI package detection. The method is implemented in our repository; the final result tables are still being filled 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3: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The talk has five parts: the motivation, the basic concepts of RAG, our method, the evaluation plan and what we have so far, and the conclusion.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Large language models can state wrong or unsupported content with the same confidence as correct content. This is called hallucination. It is worse for rare, recent or private facts, and for small models. A common fix is retrieval-augmented generation: the model answers from retrieved documents, without retraining. RAG should reduce hallucination, but is it enough?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study that motivates our project. Ibiyo and colleagues asked whether RAG helps an LLM detect malicious PyPI packages. They built three knowledge bases: YARA rules, GitHub security advisories and malicious setup.py files, with 1,242 malicious and 3,752 benign packages. The numbers are malicious-class F1. Zero-shot GPT-4o-mini reached 0.86, while LLaMA-3.1-8B with RAG reached only 0.44 to 0.52. Fine-tuning gave F1 above 0.95. They conclude that no single knowledge base was enough and that the retrieval technique seems to be the problem. So our question is: does RAG come in handy, and why does it fail when it fails?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 RAG system has an offline part and an online part. Offline, documents are split into chunks, each chunk is embedded or indexed, and everything is stored. Online, the question is used to retrieve the top-k chunks, which can be re-ranked or filtered. The chunks are put into the prompt together with an instruction to answer only from them, and the LLM writes the answer. The design choices at each step, such as chunk size, retriever type and k, decide how well it works.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BM25 scores word overlap, so it is strong for names, identifiers and rare terms but misses paraphrases. A dense retriever such as BGE-M3 embeds the question and chunks and ranks by cosine, so it matches meaning but can miss exact tokens. Hybrid retrieval combines the two rankings with reciprocal rank fusion, which needs no score calibration. A cross-encoder re-ranker then reads question and chunk together, which is slower but more accurate, and its score is comparable across questions, so we can also use it as a threshold.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table is the reason for the empirical study. The knowledge base should supply facts the model lacks, but the answer may not be in it, or it may not suit the task, as in the PyPI study. Retrieval should find the right passage, but it can miss, or a distractor can rank higher. The prompt tells the model to answer from the text, but irrelevant context can distract it. The model can copy a span that is in the context but answers a different question. And a post-hoc check can withhold unsupported answers, but it lowers coverage and cannot catch answers that are grounded but wrong.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Following the CRAG benchmark, every answer gets one of three labels. Accurate scores plus one, missing, where the system declines, scores zero, and hallucinated scores minus one. Truthfulness is the mean score, accurate minus hallucinated, so a system that refuses when unsure beats one that guesses. Correctness is decided by exact match or an LLM judge from a different model family. Grounding detectors such as HHEM, MiniCheck and LettuceDetect measure faithfulness to the context, which is not the same as correctness.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We run two studies on one shared code base. The first, E1, is a ladder of six configurations on the CRAG benchmark. Each step changes exactly one thing, so we can attribute any change in hallucination to one component. The second, E2, reproduces and extends the PyPI study: we compare no-RAG, RAG and few-shot RAG, and then add hybrid retrieval, reranking, code-aware chunking and a grounding gate. Together they ask which parts of RAG reduce hallucination, and why RAG fails when it does.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code is organised so that each part can change without touching the others. Data is ingested into a KnowledgeRepository interface with three backends: in memory, a JSON file and Qdrant, chosen in config.yaml. A retriever with a bge-m3 embedder searches it. The detector depends only on the retriever and LLM client interfaces, so it does not know where the knowledge base lives. The LLM client talks to Ollama and warns when an answer is truncated. Feature flags in the config switch chunking, retrieval, reranking, mode and verification, so each component can be ablated without code changes.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core of the first study. B0 has no documents. B1 puts the full text of five pages into the prompt, in their original order. B1.1 uses search snippets instead, and B1.2 uses fifty pages; these follow the benchmark paper's tasks. Then our own steps: B2 selects chunks with BM25, bge-m3 and reciprocal rank fusion. B3 adds a cross-encoder reranker and a relevance threshold. B4 adds a citation constraint: the answer must end with the number of the reference used. B5 adds a refusal gate: if the best chunk is below the threshold, the model is not called. Because the budget is fixed, only what fills it changes.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Page text is split into chunks of 220 words with 40 words of overlap. BM25 and bge-m3 each produce a ranking; reciprocal rank fusion merges them and the top 40 chunks go to the cross-encoder bge-reranker-v2-m3, which gives each a score in zero to one. To choose the threshold we do not look at final accuracy. The calibrate script checks, for each question, whether a normalised gold answer occurs in the retrieved chunks, and tabulates how that probability changes with the best rerank score. We put the threshold where it collapses, 0.05, because below that the model can only invent an answer. The same value is used for B3, B4 and B5.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official scoring code did not run unchanged, so the team re-implemented it, with two independent modes on the same generations. In the crag mode, which follows the benchmark: an answer containing I don’t know is missing; an exact match after normalisation is accurate; otherwise a judge returns true or false. In the three mode, the control: after an exact match, the judge itself chooses accurate, hallucinated or missing, with a broader definition of missing and the rule that a hedged wrong answer is still hallucinated. Both trim to 75 tokens and use a judge from a different model family than the generator, to avoid self-preference bias.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the second study the input is the source of a package file, such as setup.py. The detector builds a prompt and asks the LLM, by default Qwen2.5 7B, for a JSON object with a label, malicious or benign, a short reason, and the suspicious lines copied from the code. In rag mode the top five evidence snippets from YARA rules, GitHub advisories and labelled setup.py files are added to the prompt; rag_fewshot adds two fixed labelled examples. An unreadable answer is recorded as unknown and counted as wrong. Two cautions from our README: the knowledge base must be built from the training split only, because the current ingest loads both splits; and the file backend is slow for the full dataset.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table keeps us honest about what the code does today. The storage backends, config and unit tests are implemented. The vector retriever and the detector with its three modes are implemented. The CRAG ladder, with retrieval, generation, both scoring modes and the report, is implemented, but needs GPUs and a large download. Still planned for the detector are hybrid retrieval and reranking, which exist in a separate module but are not wired in, cAST chunking, and the grounding gate, which is only a config flag. We also need precision, recall, F1 and false-negative rate to compare with the reference study.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setup as configured in the repository. E1 uses the public CRAG test split of 1,335 questions and Llama-3-8B-Instruct in fp16 through Ollama, with bge-m3 and the bge reranker. E2 uses Qwen2.5 7B with bge-m3 over the PyPI data. The judge is a model from a different family than the generator; the README and the run scripts name different models, so we must fix which one was used. Hardware for the final runs is still to be recorded.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table that the final E1 runs will fill: accurate, hallucinated, missing and truthfulness, for each of the six steps and both graders, in percent. The last row will be the Llama 3 8B row from the benchmark paper, for comparison. What we will read: B0 to B1, do documents help; B2 to B3, does reranking with a threshold cut hallucination; and B4 to B5, does the gate trade coverage for truthfulness.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table will hold the E2 results on the test split: accuracy, balanced accuracy, precision, recall and F1 for the malicious class. We add one improvement at a time: hybrid retrieval, reranking, cAST chunking and the grounding gate. The reference study found F1 0.86 for zero-shot GPT-4o-mini and 0.44 to 0.52 for RAG, so we compare against those numbers, and also report how often the model says unknown and how many suspicious lines are not in the code.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These are the six research questions and how we will answer them. For E1: do documents reduce hallucination, which component gives the improvement, and what does it cost in missing answers. For E2: does RAG help against zero-shot and few-shot, why does it fail when it fails, split into retrieval quality, model hallucination and context mismatch, and do the planned improvements help. We will use differences between consecutive steps, paired bootstrap intervals, and an error analysis that separates insufficient evidence from a model that ignores sufficient evidence.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Before the scope was fixed, an earlier pilot used Phi-3-mini on a balanced SQuAD 2.0 subset of 356 test questions, half unanswerable. Truthfulness was minus 0.486 without retrieval and 0.053 with RAG. A guardrail with HHEM and answer relevance raised it to 0.140, and with MiniCheck to 0.225, at the cost of coverage. The main lesson was that most remaining hallucinations were spans copied from the right paragraph in answer to a question it does not answer, so a check that asks only whether the answer is supported does not catch them. This is why E1 includes a retrieval-score gate and a citation constraint, and why E2 checks the explanation. These numbers are only background and use a different benchmark and model.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Internally, correctness comes from LLM judges, which have known biases; two graders reduce this but neither is validated against humans, and the official scoring was re-implemented, so absolute numbers may differ from the benchmark paper. The temperature is our assumption. In E2, if test samples are in the knowledge base, retrieval leaks the label. Externally, we use one generator per study, and CRAG is English web questions, so results on code may differ. Conceptually, truthfulness rewards refusing. And with 1,335 questions and one seed, differences of a point or two may be noise, so we will add confidence intervals.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To summarise: we covered the basic concepts of RAG, and set up two linked studies on one code base. E1 is a ladder of six configurations on CRAG with two graders. E2 reproduces the PyPI detector with three modes and adds planned improvements. The method is implemented; the final result tables are still being filled in. Next we run B0 to B5 in both scoring modes, build the PyPI knowledge base from the training split only, add precision, recall and F1, wire hybrid retrieval, reranking and the gate into the detector, and check the judge on a human-labelled sample.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2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8" name="Google Shape;58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a:t>Thank you, we are happy to take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alphaModFix/>
          </a:blip>
          <a:stretch>
            <a:fillRect/>
          </a:stretch>
        </a:blipFill>
        <a:effectLst/>
      </p:bgPr>
    </p:bg>
    <p:spTree>
      <p:nvGrpSpPr>
        <p:cNvPr id="1" name="Shape 7"/>
        <p:cNvGrpSpPr/>
        <p:nvPr/>
      </p:nvGrpSpPr>
      <p:grpSpPr>
        <a:xfrm>
          <a:off x="0" y="0"/>
          <a:ext cx="0" cy="0"/>
          <a:chOff x="0" y="0"/>
          <a:chExt cx="0" cy="0"/>
        </a:xfrm>
      </p:grpSpPr>
      <p:sp>
        <p:nvSpPr>
          <p:cNvPr id="8" name="Google Shape;8;p3"/>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3"/>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3"/>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4"/>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4"/>
          <p:cNvSpPr txBox="1">
            <a:spLocks noGrp="1"/>
          </p:cNvSpPr>
          <p:nvPr>
            <p:ph type="body" idx="1"/>
          </p:nvPr>
        </p:nvSpPr>
        <p:spPr>
          <a:xfrm>
            <a:off x="253154" y="774382"/>
            <a:ext cx="8636794" cy="3704035"/>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a:ea typeface="Lato"/>
                <a:cs typeface="Lato"/>
                <a:sym typeface="La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5" name="Google Shape;15;p4"/>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6" name="Google Shape;16;p4"/>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
          <p:cNvSpPr txBox="1">
            <a:spLocks noGrp="1"/>
          </p:cNvSpPr>
          <p:nvPr>
            <p:ph type="dt" idx="10"/>
          </p:nvPr>
        </p:nvSpPr>
        <p:spPr>
          <a:xfrm>
            <a:off x="628650" y="4869656"/>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9" name="Google Shape;19;p5"/>
          <p:cNvSpPr txBox="1">
            <a:spLocks noGrp="1"/>
          </p:cNvSpPr>
          <p:nvPr>
            <p:ph type="ftr" idx="11"/>
          </p:nvPr>
        </p:nvSpPr>
        <p:spPr>
          <a:xfrm>
            <a:off x="3028950" y="4869656"/>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20" name="Google Shape;20;p5"/>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2841673" y="1846385"/>
            <a:ext cx="3460652" cy="1450730"/>
          </a:xfrm>
          <a:prstGeom prst="rect">
            <a:avLst/>
          </a:prstGeom>
          <a:noFill/>
          <a:ln>
            <a:noFill/>
          </a:ln>
        </p:spPr>
        <p:txBody>
          <a:bodyPr spcFirstLastPara="1" wrap="square" lIns="68575" tIns="34275" rIns="68575" bIns="34275" anchor="t" anchorCtr="0">
            <a:noAutofit/>
          </a:bodyPr>
          <a:lstStyle>
            <a:lvl1pPr marR="0" lvl="0" algn="ctr" rtl="0">
              <a:lnSpc>
                <a:spcPct val="90000"/>
              </a:lnSpc>
              <a:spcBef>
                <a:spcPts val="0"/>
              </a:spcBef>
              <a:spcAft>
                <a:spcPts val="0"/>
              </a:spcAft>
              <a:buClr>
                <a:schemeClr val="lt1"/>
              </a:buClr>
              <a:buSzPts val="3600"/>
              <a:buFont typeface="Lato"/>
              <a:buNone/>
              <a:defRPr sz="36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7"/>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25" name="Google Shape;25;p7"/>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26" name="Google Shape;26;p7"/>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7"/>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28" name="Google Shape;28;p7"/>
          <p:cNvSpPr txBox="1">
            <a:spLocks noGrp="1"/>
          </p:cNvSpPr>
          <p:nvPr>
            <p:ph type="body" idx="1"/>
          </p:nvPr>
        </p:nvSpPr>
        <p:spPr>
          <a:xfrm>
            <a:off x="254052" y="794133"/>
            <a:ext cx="8635896" cy="3681843"/>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a:ea typeface="Lato"/>
                <a:cs typeface="Lato"/>
                <a:sym typeface="La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8"/>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31" name="Google Shape;31;p8"/>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32" name="Google Shape;32;p8"/>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8"/>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p8"/>
          <p:cNvSpPr>
            <a:spLocks noGrp="1"/>
          </p:cNvSpPr>
          <p:nvPr>
            <p:ph type="chart" idx="2"/>
          </p:nvPr>
        </p:nvSpPr>
        <p:spPr>
          <a:xfrm>
            <a:off x="247651" y="1055077"/>
            <a:ext cx="4324350" cy="349192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35" name="Google Shape;35;p8"/>
          <p:cNvSpPr>
            <a:spLocks noGrp="1"/>
          </p:cNvSpPr>
          <p:nvPr>
            <p:ph type="pic" idx="3"/>
          </p:nvPr>
        </p:nvSpPr>
        <p:spPr>
          <a:xfrm>
            <a:off x="4679156" y="1060847"/>
            <a:ext cx="4083844" cy="3492103"/>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9"/>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38" name="Google Shape;38;p9"/>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39" name="Google Shape;39;p9"/>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9"/>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41" name="Google Shape;41;p9"/>
          <p:cNvSpPr>
            <a:spLocks noGrp="1"/>
          </p:cNvSpPr>
          <p:nvPr>
            <p:ph type="chart" idx="2"/>
          </p:nvPr>
        </p:nvSpPr>
        <p:spPr>
          <a:xfrm>
            <a:off x="254052" y="1054894"/>
            <a:ext cx="4317948" cy="35028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2" name="Google Shape;42;p9"/>
          <p:cNvSpPr>
            <a:spLocks noGrp="1"/>
          </p:cNvSpPr>
          <p:nvPr>
            <p:ph type="tbl" idx="3"/>
          </p:nvPr>
        </p:nvSpPr>
        <p:spPr>
          <a:xfrm>
            <a:off x="4657725" y="1044179"/>
            <a:ext cx="4194572" cy="351353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10"/>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45" name="Google Shape;45;p10"/>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46" name="Google Shape;46;p10"/>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10"/>
          <p:cNvSpPr txBox="1">
            <a:spLocks noGrp="1"/>
          </p:cNvSpPr>
          <p:nvPr>
            <p:ph type="body" idx="1"/>
          </p:nvPr>
        </p:nvSpPr>
        <p:spPr>
          <a:xfrm>
            <a:off x="3418779" y="936244"/>
            <a:ext cx="5543550" cy="3904059"/>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a:ea typeface="Lato"/>
                <a:cs typeface="Lato"/>
                <a:sym typeface="La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48" name="Google Shape;48;p10"/>
          <p:cNvSpPr txBox="1">
            <a:spLocks noGrp="1"/>
          </p:cNvSpPr>
          <p:nvPr>
            <p:ph type="title"/>
          </p:nvPr>
        </p:nvSpPr>
        <p:spPr>
          <a:xfrm>
            <a:off x="3418779" y="303199"/>
            <a:ext cx="5543550"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dk1"/>
              </a:buClr>
              <a:buSzPts val="2100"/>
              <a:buFont typeface="Lato"/>
              <a:buNone/>
              <a:defRPr sz="2100" b="1"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11"/>
          <p:cNvSpPr txBox="1">
            <a:spLocks noGrp="1"/>
          </p:cNvSpPr>
          <p:nvPr>
            <p:ph type="body" idx="1"/>
          </p:nvPr>
        </p:nvSpPr>
        <p:spPr>
          <a:xfrm>
            <a:off x="253154" y="774382"/>
            <a:ext cx="8636794" cy="3704035"/>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a:ea typeface="Lato"/>
                <a:cs typeface="Lato"/>
                <a:sym typeface="La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2" name="Google Shape;52;p11"/>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3" name="Google Shape;53;p11"/>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1"/>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2"/>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2"/>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2"/>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59" name="Google Shape;59;p12"/>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60" name="Google Shape;60;p12"/>
          <p:cNvSpPr>
            <a:spLocks noGrp="1"/>
          </p:cNvSpPr>
          <p:nvPr>
            <p:ph type="chart" idx="2"/>
          </p:nvPr>
        </p:nvSpPr>
        <p:spPr>
          <a:xfrm>
            <a:off x="247651" y="1055077"/>
            <a:ext cx="4324350" cy="349192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2"/>
          <p:cNvSpPr>
            <a:spLocks noGrp="1"/>
          </p:cNvSpPr>
          <p:nvPr>
            <p:ph type="pic" idx="3"/>
          </p:nvPr>
        </p:nvSpPr>
        <p:spPr>
          <a:xfrm>
            <a:off x="4679156" y="1060847"/>
            <a:ext cx="4083844" cy="349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64" name="Google Shape;64;p13"/>
          <p:cNvSpPr txBox="1">
            <a:spLocks noGrp="1"/>
          </p:cNvSpPr>
          <p:nvPr>
            <p:ph type="body" idx="1"/>
          </p:nvPr>
        </p:nvSpPr>
        <p:spPr>
          <a:xfrm>
            <a:off x="253154" y="774382"/>
            <a:ext cx="8636794" cy="3704035"/>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Lato"/>
                <a:ea typeface="Lato"/>
                <a:cs typeface="Lato"/>
                <a:sym typeface="Lato"/>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5" name="Google Shape;65;p13"/>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66" name="Google Shape;66;p13"/>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67" name="Google Shape;67;p13"/>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4"/>
          <p:cNvSpPr txBox="1">
            <a:spLocks noGrp="1"/>
          </p:cNvSpPr>
          <p:nvPr>
            <p:ph type="dt" idx="10"/>
          </p:nvPr>
        </p:nvSpPr>
        <p:spPr>
          <a:xfrm>
            <a:off x="628650" y="4864505"/>
            <a:ext cx="2057400" cy="273844"/>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0" name="Google Shape;70;p14"/>
          <p:cNvSpPr txBox="1">
            <a:spLocks noGrp="1"/>
          </p:cNvSpPr>
          <p:nvPr>
            <p:ph type="ftr" idx="11"/>
          </p:nvPr>
        </p:nvSpPr>
        <p:spPr>
          <a:xfrm>
            <a:off x="3028950" y="4864505"/>
            <a:ext cx="3086100" cy="273844"/>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rgbClr val="000000"/>
              </a:buClr>
              <a:buSzPts val="1100"/>
              <a:buFont typeface="Arial"/>
              <a:buNone/>
              <a:defRPr sz="900" b="1" i="0" u="none" strike="noStrike" cap="none">
                <a:solidFill>
                  <a:srgbClr val="C00000"/>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1" name="Google Shape;71;p14"/>
          <p:cNvSpPr txBox="1">
            <a:spLocks noGrp="1"/>
          </p:cNvSpPr>
          <p:nvPr>
            <p:ph type="sldNum" idx="12"/>
          </p:nvPr>
        </p:nvSpPr>
        <p:spPr>
          <a:xfrm>
            <a:off x="6867383" y="4869656"/>
            <a:ext cx="2057400" cy="273844"/>
          </a:xfrm>
          <a:prstGeom prst="rect">
            <a:avLst/>
          </a:prstGeom>
          <a:noFill/>
          <a:ln>
            <a:noFill/>
          </a:ln>
        </p:spPr>
        <p:txBody>
          <a:bodyPr spcFirstLastPara="1" wrap="square" lIns="68575" tIns="34275" rIns="68575" bIns="34275" anchor="t" anchorCtr="0">
            <a:noAutofit/>
          </a:bodyPr>
          <a:lstStyle>
            <a:lvl1pPr marL="0" marR="0" lvl="0"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900"/>
              <a:buFont typeface="Arial"/>
              <a:buNone/>
              <a:defRPr sz="9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14"/>
          <p:cNvSpPr txBox="1">
            <a:spLocks noGrp="1"/>
          </p:cNvSpPr>
          <p:nvPr>
            <p:ph type="title"/>
          </p:nvPr>
        </p:nvSpPr>
        <p:spPr>
          <a:xfrm>
            <a:off x="254052" y="84407"/>
            <a:ext cx="8635896" cy="327073"/>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2100"/>
              <a:buFont typeface="Lato"/>
              <a:buNone/>
              <a:defRPr sz="2100" b="1" i="0" u="none" strike="noStrike" cap="none">
                <a:solidFill>
                  <a:schemeClr val="lt1"/>
                </a:solidFill>
                <a:latin typeface="Lato"/>
                <a:ea typeface="Lato"/>
                <a:cs typeface="Lato"/>
                <a:sym typeface="Lat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3" name="Google Shape;73;p14"/>
          <p:cNvSpPr>
            <a:spLocks noGrp="1"/>
          </p:cNvSpPr>
          <p:nvPr>
            <p:ph type="chart" idx="2"/>
          </p:nvPr>
        </p:nvSpPr>
        <p:spPr>
          <a:xfrm>
            <a:off x="247651" y="1055077"/>
            <a:ext cx="4324350" cy="3491921"/>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Lato"/>
                <a:ea typeface="Lato"/>
                <a:cs typeface="Lato"/>
                <a:sym typeface="Lato"/>
              </a:defRPr>
            </a:lvl1pPr>
            <a:lvl2pPr marR="0" lvl="1"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4" name="Google Shape;74;p14"/>
          <p:cNvSpPr>
            <a:spLocks noGrp="1"/>
          </p:cNvSpPr>
          <p:nvPr>
            <p:ph type="pic" idx="3"/>
          </p:nvPr>
        </p:nvSpPr>
        <p:spPr>
          <a:xfrm>
            <a:off x="4679156" y="1060847"/>
            <a:ext cx="4083844" cy="3492103"/>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83" name="Google Shape;83;p16" descr="hust_logo.png"/>
          <p:cNvPicPr preferRelativeResize="0"/>
          <p:nvPr/>
        </p:nvPicPr>
        <p:blipFill rotWithShape="1">
          <a:blip r:embed="rId3">
            <a:alphaModFix/>
          </a:blip>
          <a:srcRect/>
          <a:stretch/>
        </p:blipFill>
        <p:spPr>
          <a:xfrm>
            <a:off x="289975" y="248535"/>
            <a:ext cx="2380775" cy="714731"/>
          </a:xfrm>
          <a:prstGeom prst="rect">
            <a:avLst/>
          </a:prstGeom>
          <a:noFill/>
          <a:ln>
            <a:noFill/>
          </a:ln>
        </p:spPr>
      </p:pic>
      <p:sp>
        <p:nvSpPr>
          <p:cNvPr id="84" name="Google Shape;84;p16"/>
          <p:cNvSpPr txBox="1"/>
          <p:nvPr/>
        </p:nvSpPr>
        <p:spPr>
          <a:xfrm>
            <a:off x="294894" y="1268730"/>
            <a:ext cx="6309360" cy="822960"/>
          </a:xfrm>
          <a:prstGeom prst="rect">
            <a:avLst/>
          </a:prstGeom>
          <a:noFill/>
          <a:ln>
            <a:noFill/>
          </a:ln>
        </p:spPr>
        <p:txBody>
          <a:bodyPr spcFirstLastPara="1" wrap="square" lIns="34275" tIns="20550" rIns="34275" bIns="20550" anchor="t" anchorCtr="0">
            <a:spAutoFit/>
          </a:bodyPr>
          <a:lstStyle/>
          <a:p>
            <a:pPr marL="0" marR="0" lvl="0" indent="0" algn="l" rtl="0">
              <a:lnSpc>
                <a:spcPct val="100000"/>
              </a:lnSpc>
              <a:spcBef>
                <a:spcPts val="0"/>
              </a:spcBef>
              <a:spcAft>
                <a:spcPts val="0"/>
              </a:spcAft>
              <a:buNone/>
            </a:pPr>
            <a:r>
              <a:rPr lang="en-US" sz="2400" b="1" i="0" u="none" strike="noStrike" cap="none">
                <a:solidFill>
                  <a:srgbClr val="C00000"/>
                </a:solidFill>
                <a:latin typeface="Calibri"/>
                <a:ea typeface="Calibri"/>
                <a:cs typeface="Calibri"/>
                <a:sym typeface="Calibri"/>
              </a:rPr>
              <a:t>RAG: Concepts and Hallucination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2400" b="1" i="0" u="none" strike="noStrike" cap="none">
                <a:solidFill>
                  <a:srgbClr val="C00000"/>
                </a:solidFill>
                <a:latin typeface="Calibri"/>
                <a:ea typeface="Calibri"/>
                <a:cs typeface="Calibri"/>
                <a:sym typeface="Calibri"/>
              </a:rPr>
              <a:t>Mitigation, with a PyPI Case Study</a:t>
            </a:r>
            <a:endParaRPr sz="1400" b="0" i="0" u="none" strike="noStrike" cap="none">
              <a:solidFill>
                <a:srgbClr val="000000"/>
              </a:solidFill>
              <a:latin typeface="Arial"/>
              <a:ea typeface="Arial"/>
              <a:cs typeface="Arial"/>
              <a:sym typeface="Arial"/>
            </a:endParaRPr>
          </a:p>
        </p:txBody>
      </p:sp>
      <p:sp>
        <p:nvSpPr>
          <p:cNvPr id="86" name="Google Shape;86;p16"/>
          <p:cNvSpPr txBox="1"/>
          <p:nvPr/>
        </p:nvSpPr>
        <p:spPr>
          <a:xfrm>
            <a:off x="294894" y="2640330"/>
            <a:ext cx="4800600" cy="1285432"/>
          </a:xfrm>
          <a:prstGeom prst="rect">
            <a:avLst/>
          </a:prstGeom>
          <a:noFill/>
          <a:ln>
            <a:noFill/>
          </a:ln>
        </p:spPr>
        <p:txBody>
          <a:bodyPr spcFirstLastPara="1" wrap="square" lIns="34275" tIns="20550" rIns="34275" bIns="20550" anchor="t" anchorCtr="0">
            <a:spAutoFit/>
          </a:bodyPr>
          <a:lstStyle/>
          <a:p>
            <a:pPr marL="0" marR="0" lvl="0" indent="0" algn="l" rtl="0">
              <a:lnSpc>
                <a:spcPct val="100000"/>
              </a:lnSpc>
              <a:spcBef>
                <a:spcPts val="0"/>
              </a:spcBef>
              <a:spcAft>
                <a:spcPts val="0"/>
              </a:spcAft>
              <a:buNone/>
            </a:pPr>
            <a:r>
              <a:rPr lang="en-US" sz="1350" b="1" i="0" u="none" strike="noStrike" cap="none" dirty="0">
                <a:solidFill>
                  <a:srgbClr val="C00000"/>
                </a:solidFill>
                <a:latin typeface="Calibri"/>
                <a:ea typeface="Calibri"/>
                <a:cs typeface="Calibri"/>
                <a:sym typeface="Calibri"/>
              </a:rPr>
              <a:t>Trịnh </a:t>
            </a:r>
            <a:r>
              <a:rPr lang="en-US" sz="1350" b="1" i="0" u="none" strike="noStrike" cap="none" dirty="0" err="1">
                <a:solidFill>
                  <a:srgbClr val="C00000"/>
                </a:solidFill>
                <a:latin typeface="Calibri"/>
                <a:ea typeface="Calibri"/>
                <a:cs typeface="Calibri"/>
                <a:sym typeface="Calibri"/>
              </a:rPr>
              <a:t>Đình</a:t>
            </a:r>
            <a:r>
              <a:rPr lang="en-US" sz="1350" b="1" i="0" u="none" strike="noStrike" cap="none" dirty="0">
                <a:solidFill>
                  <a:srgbClr val="C00000"/>
                </a:solidFill>
                <a:latin typeface="Calibri"/>
                <a:ea typeface="Calibri"/>
                <a:cs typeface="Calibri"/>
                <a:sym typeface="Calibri"/>
              </a:rPr>
              <a:t> Hoàn  20261076M</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375"/>
              </a:spcBef>
              <a:spcAft>
                <a:spcPts val="0"/>
              </a:spcAft>
              <a:buNone/>
            </a:pPr>
            <a:r>
              <a:rPr lang="en-US" sz="1350" b="1" i="0" u="none" strike="noStrike" cap="none" dirty="0">
                <a:solidFill>
                  <a:srgbClr val="C00000"/>
                </a:solidFill>
                <a:latin typeface="Calibri"/>
                <a:ea typeface="Calibri"/>
                <a:cs typeface="Calibri"/>
                <a:sym typeface="Calibri"/>
              </a:rPr>
              <a:t>Phạm Trung Dũng  20261080M</a:t>
            </a:r>
            <a:endParaRPr sz="1400" b="0" i="0" u="none" strike="noStrike" cap="none" dirty="0">
              <a:solidFill>
                <a:srgbClr val="000000"/>
              </a:solidFill>
              <a:latin typeface="Arial"/>
              <a:ea typeface="Arial"/>
              <a:cs typeface="Arial"/>
              <a:sym typeface="Arial"/>
            </a:endParaRPr>
          </a:p>
          <a:p>
            <a:pPr lvl="0">
              <a:spcBef>
                <a:spcPts val="375"/>
              </a:spcBef>
            </a:pPr>
            <a:r>
              <a:rPr lang="en-US" sz="1350" b="1" dirty="0">
                <a:solidFill>
                  <a:srgbClr val="C00000"/>
                </a:solidFill>
                <a:latin typeface="Calibri"/>
                <a:ea typeface="Calibri"/>
                <a:cs typeface="Calibri"/>
                <a:sym typeface="Calibri"/>
              </a:rPr>
              <a:t>Đoàn Hải Yến 20252746M</a:t>
            </a:r>
          </a:p>
          <a:p>
            <a:pPr lvl="0">
              <a:spcBef>
                <a:spcPts val="375"/>
              </a:spcBef>
            </a:pPr>
            <a:r>
              <a:rPr lang="en-US" sz="1350" b="1" dirty="0" err="1">
                <a:solidFill>
                  <a:srgbClr val="C00000"/>
                </a:solidFill>
                <a:latin typeface="Calibri"/>
                <a:ea typeface="Calibri"/>
                <a:cs typeface="Calibri"/>
                <a:sym typeface="Calibri"/>
              </a:rPr>
              <a:t>Đỗ</a:t>
            </a:r>
            <a:r>
              <a:rPr lang="en-US" sz="1350" b="1" dirty="0">
                <a:solidFill>
                  <a:srgbClr val="C00000"/>
                </a:solidFill>
                <a:latin typeface="Calibri"/>
                <a:ea typeface="Calibri"/>
                <a:cs typeface="Calibri"/>
                <a:sym typeface="Calibri"/>
              </a:rPr>
              <a:t> Tuấn Minh 20261057M</a:t>
            </a:r>
          </a:p>
          <a:p>
            <a:pPr lvl="0">
              <a:spcBef>
                <a:spcPts val="375"/>
              </a:spcBef>
            </a:pPr>
            <a:r>
              <a:rPr lang="en-US" sz="1350" b="1" dirty="0">
                <a:solidFill>
                  <a:srgbClr val="C00000"/>
                </a:solidFill>
                <a:latin typeface="Calibri"/>
                <a:ea typeface="Calibri"/>
                <a:cs typeface="Calibri"/>
                <a:sym typeface="Calibri"/>
              </a:rPr>
              <a:t>Hoàng Huy </a:t>
            </a:r>
            <a:r>
              <a:rPr lang="en-US" sz="1350" b="1" dirty="0" err="1">
                <a:solidFill>
                  <a:srgbClr val="C00000"/>
                </a:solidFill>
                <a:latin typeface="Calibri"/>
                <a:ea typeface="Calibri"/>
                <a:cs typeface="Calibri"/>
                <a:sym typeface="Calibri"/>
              </a:rPr>
              <a:t>Chiến</a:t>
            </a:r>
            <a:r>
              <a:rPr lang="en-US" sz="1350" b="1" dirty="0">
                <a:solidFill>
                  <a:srgbClr val="C00000"/>
                </a:solidFill>
                <a:latin typeface="Calibri"/>
                <a:ea typeface="Calibri"/>
                <a:cs typeface="Calibri"/>
                <a:sym typeface="Calibri"/>
              </a:rPr>
              <a:t> 20261069M</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p:nvPr/>
        </p:nvSpPr>
        <p:spPr>
          <a:xfrm>
            <a:off x="329184" y="27432"/>
            <a:ext cx="8366760" cy="425196"/>
          </a:xfrm>
          <a:prstGeom prst="rect">
            <a:avLst/>
          </a:prstGeom>
          <a:noFill/>
          <a:ln>
            <a:noFill/>
          </a:ln>
        </p:spPr>
        <p:txBody>
          <a:bodyPr spcFirstLastPara="1" wrap="square" lIns="34275" tIns="20550" rIns="34275" bIns="20550" anchor="ctr" anchorCtr="0">
            <a:spAutoFit/>
          </a:bodyPr>
          <a:lstStyle/>
          <a:p>
            <a:pPr marL="0" marR="0" lvl="0" indent="0" algn="l" rtl="0">
              <a:lnSpc>
                <a:spcPct val="100000"/>
              </a:lnSpc>
              <a:spcBef>
                <a:spcPts val="0"/>
              </a:spcBef>
              <a:spcAft>
                <a:spcPts val="0"/>
              </a:spcAft>
              <a:buNone/>
            </a:pPr>
            <a:r>
              <a:rPr lang="en-US" sz="2250" b="1" i="0" u="none" strike="noStrike" cap="none">
                <a:solidFill>
                  <a:srgbClr val="FFFFFF"/>
                </a:solidFill>
                <a:latin typeface="Calibri"/>
                <a:ea typeface="Calibri"/>
                <a:cs typeface="Calibri"/>
                <a:sym typeface="Calibri"/>
              </a:rPr>
              <a:t>Outline</a:t>
            </a:r>
            <a:endParaRPr sz="1400" b="0" i="0" u="none" strike="noStrike" cap="none">
              <a:solidFill>
                <a:srgbClr val="000000"/>
              </a:solidFill>
              <a:latin typeface="Arial"/>
              <a:ea typeface="Arial"/>
              <a:cs typeface="Arial"/>
              <a:sym typeface="Arial"/>
            </a:endParaRPr>
          </a:p>
        </p:txBody>
      </p:sp>
      <p:sp>
        <p:nvSpPr>
          <p:cNvPr id="92" name="Google Shape;92;p17"/>
          <p:cNvSpPr txBox="1"/>
          <p:nvPr/>
        </p:nvSpPr>
        <p:spPr>
          <a:xfrm>
            <a:off x="411480" y="672084"/>
            <a:ext cx="8321100" cy="257100"/>
          </a:xfrm>
          <a:prstGeom prst="rect">
            <a:avLst/>
          </a:prstGeom>
          <a:noFill/>
          <a:ln>
            <a:noFill/>
          </a:ln>
        </p:spPr>
        <p:txBody>
          <a:bodyPr spcFirstLastPara="1" wrap="square" lIns="34275" tIns="20550" rIns="34275" bIns="2055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3" name="Google Shape;93;p17"/>
          <p:cNvSpPr txBox="1"/>
          <p:nvPr/>
        </p:nvSpPr>
        <p:spPr>
          <a:xfrm>
            <a:off x="8046720" y="4828032"/>
            <a:ext cx="685800" cy="240030"/>
          </a:xfrm>
          <a:prstGeom prst="rect">
            <a:avLst/>
          </a:prstGeom>
          <a:noFill/>
          <a:ln>
            <a:noFill/>
          </a:ln>
        </p:spPr>
        <p:txBody>
          <a:bodyPr spcFirstLastPara="1" wrap="square" lIns="34275" tIns="20550" rIns="34275" bIns="20550" anchor="t" anchorCtr="0">
            <a:spAutoFit/>
          </a:bodyPr>
          <a:lstStyle/>
          <a:p>
            <a:pPr marL="0" marR="0" lvl="0" indent="0" algn="r" rtl="0">
              <a:lnSpc>
                <a:spcPct val="100000"/>
              </a:lnSpc>
              <a:spcBef>
                <a:spcPts val="0"/>
              </a:spcBef>
              <a:spcAft>
                <a:spcPts val="0"/>
              </a:spcAft>
              <a:buNone/>
            </a:pPr>
            <a:r>
              <a:rPr lang="en-US" sz="850" b="0" i="0" u="none" strike="noStrike" cap="none">
                <a:solidFill>
                  <a:srgbClr val="555C64"/>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94" name="Google Shape;94;p17"/>
          <p:cNvSpPr/>
          <p:nvPr/>
        </p:nvSpPr>
        <p:spPr>
          <a:xfrm>
            <a:off x="411480" y="1100000"/>
            <a:ext cx="8321039" cy="590000"/>
          </a:xfrm>
          <a:prstGeom prst="rect">
            <a:avLst/>
          </a:prstGeom>
          <a:solidFill>
            <a:srgbClr val="FFFFFF"/>
          </a:solidFill>
          <a:ln w="10150" cap="flat" cmpd="sng">
            <a:solidFill>
              <a:srgbClr val="DADEE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1125" tIns="45700" rIns="411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5" name="Google Shape;95;p17"/>
          <p:cNvSpPr/>
          <p:nvPr/>
        </p:nvSpPr>
        <p:spPr>
          <a:xfrm>
            <a:off x="560000" y="1205000"/>
            <a:ext cx="380000" cy="380000"/>
          </a:xfrm>
          <a:prstGeom prst="ellipse">
            <a:avLst/>
          </a:prstGeom>
          <a:solidFill>
            <a:srgbClr val="BC1C2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sp>
        <p:nvSpPr>
          <p:cNvPr id="96" name="Google Shape;96;p17"/>
          <p:cNvSpPr txBox="1"/>
          <p:nvPr/>
        </p:nvSpPr>
        <p:spPr>
          <a:xfrm>
            <a:off x="1150000" y="1100000"/>
            <a:ext cx="20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r>
              <a:rPr lang="en-US" sz="1700" b="1" i="0" u="none" strike="noStrike" cap="none">
                <a:solidFill>
                  <a:srgbClr val="BC1C2F"/>
                </a:solidFill>
                <a:latin typeface="Calibri"/>
                <a:ea typeface="Calibri"/>
                <a:cs typeface="Calibri"/>
                <a:sym typeface="Calibri"/>
              </a:rPr>
              <a:t>Motivation</a:t>
            </a:r>
            <a:endParaRPr sz="1400" b="0" i="0" u="none" strike="noStrike" cap="none">
              <a:solidFill>
                <a:srgbClr val="000000"/>
              </a:solidFill>
              <a:latin typeface="Arial"/>
              <a:ea typeface="Arial"/>
              <a:cs typeface="Arial"/>
              <a:sym typeface="Arial"/>
            </a:endParaRPr>
          </a:p>
        </p:txBody>
      </p:sp>
      <p:sp>
        <p:nvSpPr>
          <p:cNvPr id="97" name="Google Shape;97;p17"/>
          <p:cNvSpPr txBox="1"/>
          <p:nvPr/>
        </p:nvSpPr>
        <p:spPr>
          <a:xfrm>
            <a:off x="3200000" y="1100000"/>
            <a:ext cx="54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8" name="Google Shape;98;p17"/>
          <p:cNvSpPr/>
          <p:nvPr/>
        </p:nvSpPr>
        <p:spPr>
          <a:xfrm>
            <a:off x="411480" y="1790000"/>
            <a:ext cx="8321039" cy="590000"/>
          </a:xfrm>
          <a:prstGeom prst="rect">
            <a:avLst/>
          </a:prstGeom>
          <a:solidFill>
            <a:srgbClr val="FFFFFF"/>
          </a:solidFill>
          <a:ln w="10150" cap="flat" cmpd="sng">
            <a:solidFill>
              <a:srgbClr val="DADEE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1125" tIns="45700" rIns="411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9" name="Google Shape;99;p17"/>
          <p:cNvSpPr/>
          <p:nvPr/>
        </p:nvSpPr>
        <p:spPr>
          <a:xfrm>
            <a:off x="560000" y="1895000"/>
            <a:ext cx="380000" cy="380000"/>
          </a:xfrm>
          <a:prstGeom prst="ellipse">
            <a:avLst/>
          </a:prstGeom>
          <a:solidFill>
            <a:srgbClr val="BC1C2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100" name="Google Shape;100;p17"/>
          <p:cNvSpPr txBox="1"/>
          <p:nvPr/>
        </p:nvSpPr>
        <p:spPr>
          <a:xfrm>
            <a:off x="1150000" y="1790000"/>
            <a:ext cx="20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r>
              <a:rPr lang="en-US" sz="1700" b="1" i="0" u="none" strike="noStrike" cap="none">
                <a:solidFill>
                  <a:srgbClr val="BC1C2F"/>
                </a:solidFill>
                <a:latin typeface="Calibri"/>
                <a:ea typeface="Calibri"/>
                <a:cs typeface="Calibri"/>
                <a:sym typeface="Calibri"/>
              </a:rPr>
              <a:t>RAG concepts</a:t>
            </a:r>
            <a:endParaRPr sz="1400" b="0" i="0" u="none" strike="noStrike" cap="none">
              <a:solidFill>
                <a:srgbClr val="000000"/>
              </a:solidFill>
              <a:latin typeface="Arial"/>
              <a:ea typeface="Arial"/>
              <a:cs typeface="Arial"/>
              <a:sym typeface="Arial"/>
            </a:endParaRPr>
          </a:p>
        </p:txBody>
      </p:sp>
      <p:sp>
        <p:nvSpPr>
          <p:cNvPr id="101" name="Google Shape;101;p17"/>
          <p:cNvSpPr txBox="1"/>
          <p:nvPr/>
        </p:nvSpPr>
        <p:spPr>
          <a:xfrm>
            <a:off x="3200000" y="1790000"/>
            <a:ext cx="54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2" name="Google Shape;102;p17"/>
          <p:cNvSpPr/>
          <p:nvPr/>
        </p:nvSpPr>
        <p:spPr>
          <a:xfrm>
            <a:off x="411480" y="2480000"/>
            <a:ext cx="8321039" cy="590000"/>
          </a:xfrm>
          <a:prstGeom prst="rect">
            <a:avLst/>
          </a:prstGeom>
          <a:solidFill>
            <a:srgbClr val="FFFFFF"/>
          </a:solidFill>
          <a:ln w="10150" cap="flat" cmpd="sng">
            <a:solidFill>
              <a:srgbClr val="DADEE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1125" tIns="45700" rIns="411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3" name="Google Shape;103;p17"/>
          <p:cNvSpPr/>
          <p:nvPr/>
        </p:nvSpPr>
        <p:spPr>
          <a:xfrm>
            <a:off x="560000" y="2585000"/>
            <a:ext cx="380000" cy="380000"/>
          </a:xfrm>
          <a:prstGeom prst="ellipse">
            <a:avLst/>
          </a:prstGeom>
          <a:solidFill>
            <a:srgbClr val="BC1C2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04" name="Google Shape;104;p17"/>
          <p:cNvSpPr txBox="1"/>
          <p:nvPr/>
        </p:nvSpPr>
        <p:spPr>
          <a:xfrm>
            <a:off x="1150000" y="2480000"/>
            <a:ext cx="20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r>
              <a:rPr lang="en-US" sz="1700" b="1" i="0" u="none" strike="noStrike" cap="none">
                <a:solidFill>
                  <a:srgbClr val="BC1C2F"/>
                </a:solidFill>
                <a:latin typeface="Calibri"/>
                <a:ea typeface="Calibri"/>
                <a:cs typeface="Calibri"/>
                <a:sym typeface="Calibri"/>
              </a:rPr>
              <a:t>Method</a:t>
            </a:r>
            <a:endParaRPr sz="1400" b="0" i="0" u="none" strike="noStrike" cap="none">
              <a:solidFill>
                <a:srgbClr val="000000"/>
              </a:solidFill>
              <a:latin typeface="Arial"/>
              <a:ea typeface="Arial"/>
              <a:cs typeface="Arial"/>
              <a:sym typeface="Arial"/>
            </a:endParaRPr>
          </a:p>
        </p:txBody>
      </p:sp>
      <p:sp>
        <p:nvSpPr>
          <p:cNvPr id="105" name="Google Shape;105;p17"/>
          <p:cNvSpPr txBox="1"/>
          <p:nvPr/>
        </p:nvSpPr>
        <p:spPr>
          <a:xfrm>
            <a:off x="3200000" y="2480000"/>
            <a:ext cx="54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6" name="Google Shape;106;p17"/>
          <p:cNvSpPr/>
          <p:nvPr/>
        </p:nvSpPr>
        <p:spPr>
          <a:xfrm>
            <a:off x="411480" y="3170000"/>
            <a:ext cx="8321039" cy="590000"/>
          </a:xfrm>
          <a:prstGeom prst="rect">
            <a:avLst/>
          </a:prstGeom>
          <a:solidFill>
            <a:srgbClr val="FFFFFF"/>
          </a:solidFill>
          <a:ln w="10150" cap="flat" cmpd="sng">
            <a:solidFill>
              <a:srgbClr val="DADEE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1125" tIns="45700" rIns="411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7" name="Google Shape;107;p17"/>
          <p:cNvSpPr/>
          <p:nvPr/>
        </p:nvSpPr>
        <p:spPr>
          <a:xfrm>
            <a:off x="560000" y="3275000"/>
            <a:ext cx="380000" cy="380000"/>
          </a:xfrm>
          <a:prstGeom prst="ellipse">
            <a:avLst/>
          </a:prstGeom>
          <a:solidFill>
            <a:srgbClr val="BC1C2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sp>
        <p:nvSpPr>
          <p:cNvPr id="108" name="Google Shape;108;p17"/>
          <p:cNvSpPr txBox="1"/>
          <p:nvPr/>
        </p:nvSpPr>
        <p:spPr>
          <a:xfrm>
            <a:off x="1150000" y="3170000"/>
            <a:ext cx="20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r>
              <a:rPr lang="en-US" sz="1700" b="1" i="0" u="none" strike="noStrike" cap="none">
                <a:solidFill>
                  <a:srgbClr val="BC1C2F"/>
                </a:solidFill>
                <a:latin typeface="Calibri"/>
                <a:ea typeface="Calibri"/>
                <a:cs typeface="Calibri"/>
                <a:sym typeface="Calibri"/>
              </a:rPr>
              <a:t>Evaluation</a:t>
            </a:r>
            <a:endParaRPr sz="1400" b="0" i="0" u="none" strike="noStrike" cap="none">
              <a:solidFill>
                <a:srgbClr val="000000"/>
              </a:solidFill>
              <a:latin typeface="Arial"/>
              <a:ea typeface="Arial"/>
              <a:cs typeface="Arial"/>
              <a:sym typeface="Arial"/>
            </a:endParaRPr>
          </a:p>
        </p:txBody>
      </p:sp>
      <p:sp>
        <p:nvSpPr>
          <p:cNvPr id="109" name="Google Shape;109;p17"/>
          <p:cNvSpPr txBox="1"/>
          <p:nvPr/>
        </p:nvSpPr>
        <p:spPr>
          <a:xfrm>
            <a:off x="3200000" y="3170000"/>
            <a:ext cx="54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0" name="Google Shape;110;p17"/>
          <p:cNvSpPr/>
          <p:nvPr/>
        </p:nvSpPr>
        <p:spPr>
          <a:xfrm>
            <a:off x="411480" y="3860000"/>
            <a:ext cx="8321039" cy="590000"/>
          </a:xfrm>
          <a:prstGeom prst="rect">
            <a:avLst/>
          </a:prstGeom>
          <a:solidFill>
            <a:srgbClr val="FFFFFF"/>
          </a:solidFill>
          <a:ln w="10150" cap="flat" cmpd="sng">
            <a:solidFill>
              <a:srgbClr val="DADEE2"/>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41125" tIns="45700" rIns="411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1" name="Google Shape;111;p17"/>
          <p:cNvSpPr/>
          <p:nvPr/>
        </p:nvSpPr>
        <p:spPr>
          <a:xfrm>
            <a:off x="560000" y="3965000"/>
            <a:ext cx="380000" cy="380000"/>
          </a:xfrm>
          <a:prstGeom prst="ellipse">
            <a:avLst/>
          </a:prstGeom>
          <a:solidFill>
            <a:srgbClr val="BC1C2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112" name="Google Shape;112;p17"/>
          <p:cNvSpPr txBox="1"/>
          <p:nvPr/>
        </p:nvSpPr>
        <p:spPr>
          <a:xfrm>
            <a:off x="1150000" y="3860000"/>
            <a:ext cx="20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r>
              <a:rPr lang="en-US" sz="1700" b="1" i="0" u="none" strike="noStrike" cap="none">
                <a:solidFill>
                  <a:srgbClr val="BC1C2F"/>
                </a:solidFill>
                <a:latin typeface="Calibri"/>
                <a:ea typeface="Calibri"/>
                <a:cs typeface="Calibri"/>
                <a:sym typeface="Calibri"/>
              </a:rPr>
              <a:t>Conclusion</a:t>
            </a:r>
            <a:endParaRPr sz="1400" b="0" i="0" u="none" strike="noStrike" cap="none">
              <a:solidFill>
                <a:srgbClr val="000000"/>
              </a:solidFill>
              <a:latin typeface="Arial"/>
              <a:ea typeface="Arial"/>
              <a:cs typeface="Arial"/>
              <a:sym typeface="Arial"/>
            </a:endParaRPr>
          </a:p>
        </p:txBody>
      </p:sp>
      <p:sp>
        <p:nvSpPr>
          <p:cNvPr id="113" name="Google Shape;113;p17"/>
          <p:cNvSpPr txBox="1"/>
          <p:nvPr/>
        </p:nvSpPr>
        <p:spPr>
          <a:xfrm>
            <a:off x="3200000" y="3860000"/>
            <a:ext cx="5400000" cy="590000"/>
          </a:xfrm>
          <a:prstGeom prst="rect">
            <a:avLst/>
          </a:prstGeom>
          <a:noFill/>
          <a:ln>
            <a:noFill/>
          </a:ln>
        </p:spPr>
        <p:txBody>
          <a:bodyPr spcFirstLastPara="1" wrap="square" lIns="34275" tIns="20550" rIns="34275" bIns="2055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Motivation  |  From hallucination to RAG</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LLMs sound confident, even when they are wrong</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4</a:t>
            </a:r>
          </a:p>
        </p:txBody>
      </p:sp>
      <p:sp>
        <p:nvSpPr>
          <p:cNvPr id="5" name="Rectangle 4"/>
          <p:cNvSpPr/>
          <p:nvPr/>
        </p:nvSpPr>
        <p:spPr>
          <a:xfrm>
            <a:off x="411480" y="1133856"/>
            <a:ext cx="3703320" cy="2304288"/>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70432"/>
            <a:ext cx="3520439" cy="310896"/>
          </a:xfrm>
          <a:prstGeom prst="rect">
            <a:avLst/>
          </a:prstGeom>
          <a:noFill/>
        </p:spPr>
        <p:txBody>
          <a:bodyPr wrap="square" lIns="34275" tIns="20550" rIns="34275" bIns="20550" anchor="ctr">
            <a:spAutoFit/>
          </a:bodyPr>
          <a:lstStyle/>
          <a:p>
            <a:pPr algn="l"/>
            <a:r>
              <a:rPr sz="1500" b="1" i="0">
                <a:solidFill>
                  <a:srgbClr val="BC1C2F"/>
                </a:solidFill>
                <a:latin typeface="Calibri"/>
              </a:rPr>
              <a:t>The problem: hallucination</a:t>
            </a:r>
          </a:p>
        </p:txBody>
      </p:sp>
      <p:cxnSp>
        <p:nvCxnSpPr>
          <p:cNvPr id="7" name="Connector 6"/>
          <p:cNvCxnSpPr/>
          <p:nvPr/>
        </p:nvCxnSpPr>
        <p:spPr>
          <a:xfrm>
            <a:off x="539496" y="1499616"/>
            <a:ext cx="3447287"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12064" y="1609344"/>
            <a:ext cx="3493008" cy="1783080"/>
          </a:xfrm>
          <a:prstGeom prst="rect">
            <a:avLst/>
          </a:prstGeom>
          <a:noFill/>
        </p:spPr>
        <p:txBody>
          <a:bodyPr wrap="square" lIns="34275" tIns="20550" rIns="34275" bIns="20550" anchor="t">
            <a:spAutoFit/>
          </a:bodyPr>
          <a:lstStyle/>
          <a:p>
            <a:pPr marL="199072" indent="-199072" algn="l">
              <a:spcAft>
                <a:spcPts val="800"/>
              </a:spcAft>
              <a:buClr>
                <a:srgbClr val="BC1C2F"/>
              </a:buClr>
              <a:buSzPts val="1500"/>
              <a:buFont typeface="Arial"/>
              <a:buChar char="•"/>
            </a:pPr>
            <a:r>
              <a:rPr sz="1500" b="0" i="0">
                <a:solidFill>
                  <a:srgbClr val="23272D"/>
                </a:solidFill>
                <a:latin typeface="Calibri"/>
              </a:rPr>
              <a:t>Fluent text is </a:t>
            </a:r>
            <a:r>
              <a:rPr sz="1500" b="1" i="0">
                <a:solidFill>
                  <a:srgbClr val="23272D"/>
                </a:solidFill>
                <a:latin typeface="Calibri"/>
              </a:rPr>
              <a:t>not always true</a:t>
            </a:r>
          </a:p>
          <a:p>
            <a:pPr marL="199072" indent="-199072" algn="l">
              <a:spcAft>
                <a:spcPts val="800"/>
              </a:spcAft>
              <a:buClr>
                <a:srgbClr val="BC1C2F"/>
              </a:buClr>
              <a:buSzPts val="1500"/>
              <a:buFont typeface="Arial"/>
              <a:buChar char="•"/>
            </a:pPr>
            <a:r>
              <a:rPr sz="1500" b="0" i="0">
                <a:solidFill>
                  <a:srgbClr val="23272D"/>
                </a:solidFill>
                <a:latin typeface="Calibri"/>
              </a:rPr>
              <a:t>Rare, recent or private facts are </a:t>
            </a:r>
            <a:r>
              <a:rPr sz="1500" b="1" i="0">
                <a:solidFill>
                  <a:srgbClr val="23272D"/>
                </a:solidFill>
                <a:latin typeface="Calibri"/>
              </a:rPr>
              <a:t>missing</a:t>
            </a:r>
            <a:r>
              <a:rPr sz="1500" b="0" i="0">
                <a:solidFill>
                  <a:srgbClr val="23272D"/>
                </a:solidFill>
                <a:latin typeface="Calibri"/>
              </a:rPr>
              <a:t> from the model</a:t>
            </a:r>
          </a:p>
          <a:p>
            <a:pPr marL="199072" indent="-199072" algn="l">
              <a:spcAft>
                <a:spcPts val="800"/>
              </a:spcAft>
              <a:buClr>
                <a:srgbClr val="BC1C2F"/>
              </a:buClr>
              <a:buSzPts val="1500"/>
              <a:buFont typeface="Arial"/>
              <a:buChar char="•"/>
            </a:pPr>
            <a:r>
              <a:rPr sz="1500" b="0" i="0">
                <a:solidFill>
                  <a:srgbClr val="23272D"/>
                </a:solidFill>
                <a:latin typeface="Calibri"/>
              </a:rPr>
              <a:t>Confident wrong answers </a:t>
            </a:r>
            <a:r>
              <a:rPr sz="1500" b="1" i="0">
                <a:solidFill>
                  <a:srgbClr val="23272D"/>
                </a:solidFill>
                <a:latin typeface="Calibri"/>
              </a:rPr>
              <a:t>break trust</a:t>
            </a:r>
          </a:p>
        </p:txBody>
      </p:sp>
      <p:cxnSp>
        <p:nvCxnSpPr>
          <p:cNvPr id="9" name="Connector 8"/>
          <p:cNvCxnSpPr/>
          <p:nvPr/>
        </p:nvCxnSpPr>
        <p:spPr>
          <a:xfrm>
            <a:off x="4197096" y="2286000"/>
            <a:ext cx="557784"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73752" y="1133856"/>
            <a:ext cx="3840480" cy="2304288"/>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965192" y="1170432"/>
            <a:ext cx="36576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A common fix: RAG</a:t>
            </a:r>
          </a:p>
        </p:txBody>
      </p:sp>
      <p:cxnSp>
        <p:nvCxnSpPr>
          <p:cNvPr id="12" name="Connector 11"/>
          <p:cNvCxnSpPr/>
          <p:nvPr/>
        </p:nvCxnSpPr>
        <p:spPr>
          <a:xfrm>
            <a:off x="5001768" y="1499616"/>
            <a:ext cx="35844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056632" y="1655064"/>
            <a:ext cx="1033271" cy="521207"/>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Question</a:t>
            </a:r>
          </a:p>
        </p:txBody>
      </p:sp>
      <p:cxnSp>
        <p:nvCxnSpPr>
          <p:cNvPr id="14" name="Connector 13"/>
          <p:cNvCxnSpPr/>
          <p:nvPr/>
        </p:nvCxnSpPr>
        <p:spPr>
          <a:xfrm>
            <a:off x="6108192" y="1911095"/>
            <a:ext cx="155448"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277356" y="1655064"/>
            <a:ext cx="1033271" cy="521207"/>
          </a:xfrm>
          <a:prstGeom prst="rect">
            <a:avLst/>
          </a:prstGeom>
          <a:solidFill>
            <a:srgbClr val="FBEFF0"/>
          </a:solidFill>
          <a:ln w="1905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BC1C2F"/>
                </a:solidFill>
                <a:latin typeface="Calibri"/>
              </a:rPr>
              <a:t>Retrieve</a:t>
            </a:r>
          </a:p>
        </p:txBody>
      </p:sp>
      <p:cxnSp>
        <p:nvCxnSpPr>
          <p:cNvPr id="16" name="Connector 15"/>
          <p:cNvCxnSpPr/>
          <p:nvPr/>
        </p:nvCxnSpPr>
        <p:spPr>
          <a:xfrm>
            <a:off x="7328916" y="1911095"/>
            <a:ext cx="155448"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498079" y="1655064"/>
            <a:ext cx="1033271" cy="521207"/>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Generate</a:t>
            </a:r>
          </a:p>
        </p:txBody>
      </p:sp>
      <p:sp>
        <p:nvSpPr>
          <p:cNvPr id="18" name="TextBox 17"/>
          <p:cNvSpPr txBox="1"/>
          <p:nvPr/>
        </p:nvSpPr>
        <p:spPr>
          <a:xfrm>
            <a:off x="4974336" y="2432304"/>
            <a:ext cx="3639312" cy="1298448"/>
          </a:xfrm>
          <a:prstGeom prst="rect">
            <a:avLst/>
          </a:prstGeom>
          <a:noFill/>
        </p:spPr>
        <p:txBody>
          <a:bodyPr wrap="square" lIns="34275" tIns="20550" rIns="34275" bIns="20550" anchor="t">
            <a:spAutoFit/>
          </a:bodyPr>
          <a:lstStyle/>
          <a:p>
            <a:pPr marL="199072" indent="-199072" algn="l">
              <a:spcAft>
                <a:spcPts val="800"/>
              </a:spcAft>
              <a:buClr>
                <a:srgbClr val="BC1C2F"/>
              </a:buClr>
              <a:buSzPts val="1500"/>
              <a:buFont typeface="Arial"/>
              <a:buChar char="•"/>
            </a:pPr>
            <a:r>
              <a:rPr sz="1500" b="0" i="0">
                <a:solidFill>
                  <a:srgbClr val="23272D"/>
                </a:solidFill>
                <a:latin typeface="Calibri"/>
              </a:rPr>
              <a:t>Answer from </a:t>
            </a:r>
            <a:r>
              <a:rPr sz="1500" b="1" i="0">
                <a:solidFill>
                  <a:srgbClr val="23272D"/>
                </a:solidFill>
                <a:latin typeface="Calibri"/>
              </a:rPr>
              <a:t>retrieved documents</a:t>
            </a:r>
          </a:p>
          <a:p>
            <a:pPr marL="199072" indent="-199072" algn="l">
              <a:spcAft>
                <a:spcPts val="800"/>
              </a:spcAft>
              <a:buClr>
                <a:srgbClr val="BC1C2F"/>
              </a:buClr>
              <a:buSzPts val="1500"/>
              <a:buFont typeface="Arial"/>
              <a:buChar char="•"/>
            </a:pPr>
            <a:r>
              <a:rPr sz="1500" b="1" i="0">
                <a:solidFill>
                  <a:srgbClr val="23272D"/>
                </a:solidFill>
                <a:latin typeface="Calibri"/>
              </a:rPr>
              <a:t>No retraining</a:t>
            </a:r>
            <a:r>
              <a:rPr sz="1500" b="0" i="0">
                <a:solidFill>
                  <a:srgbClr val="23272D"/>
                </a:solidFill>
                <a:latin typeface="Calibri"/>
              </a:rPr>
              <a:t> needed</a:t>
            </a:r>
          </a:p>
        </p:txBody>
      </p:sp>
      <p:sp>
        <p:nvSpPr>
          <p:cNvPr id="19" name="Rectangle 18"/>
          <p:cNvSpPr/>
          <p:nvPr/>
        </p:nvSpPr>
        <p:spPr>
          <a:xfrm>
            <a:off x="411480" y="3703320"/>
            <a:ext cx="8321040" cy="5029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500" b="1" i="0">
                <a:solidFill>
                  <a:srgbClr val="BC1C2F"/>
                </a:solidFill>
                <a:latin typeface="Calibri"/>
              </a:rPr>
              <a:t>RAG should reduce hallucination.</a:t>
            </a:r>
            <a:r>
              <a:rPr sz="1500" b="0" i="0">
                <a:solidFill>
                  <a:srgbClr val="23272D"/>
                </a:solidFill>
                <a:latin typeface="Calibri"/>
              </a:rPr>
              <a:t> Does it, and when does it fail?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Motivation  |  A warning from the reference study</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Ibiyo et al. (EASE 2025): RAG did not help detect malicious PyPI packages</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5</a:t>
            </a:r>
          </a:p>
        </p:txBody>
      </p:sp>
      <p:sp>
        <p:nvSpPr>
          <p:cNvPr id="5" name="Rectangle 4"/>
          <p:cNvSpPr/>
          <p:nvPr/>
        </p:nvSpPr>
        <p:spPr>
          <a:xfrm>
            <a:off x="41148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41148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8521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0.86</a:t>
            </a:r>
          </a:p>
        </p:txBody>
      </p:sp>
      <p:sp>
        <p:nvSpPr>
          <p:cNvPr id="8" name="TextBox 7"/>
          <p:cNvSpPr txBox="1"/>
          <p:nvPr/>
        </p:nvSpPr>
        <p:spPr>
          <a:xfrm>
            <a:off x="58521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GPT-4o-mini, zero-shot (malicious F1)</a:t>
            </a:r>
          </a:p>
        </p:txBody>
      </p:sp>
      <p:sp>
        <p:nvSpPr>
          <p:cNvPr id="9" name="Rectangle 8"/>
          <p:cNvSpPr/>
          <p:nvPr/>
        </p:nvSpPr>
        <p:spPr>
          <a:xfrm>
            <a:off x="251460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251460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68833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0.52</a:t>
            </a:r>
          </a:p>
        </p:txBody>
      </p:sp>
      <p:sp>
        <p:nvSpPr>
          <p:cNvPr id="12" name="TextBox 11"/>
          <p:cNvSpPr txBox="1"/>
          <p:nvPr/>
        </p:nvSpPr>
        <p:spPr>
          <a:xfrm>
            <a:off x="268833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LLaMA-3.1-8B + RAG, YARA rules</a:t>
            </a:r>
          </a:p>
        </p:txBody>
      </p:sp>
      <p:sp>
        <p:nvSpPr>
          <p:cNvPr id="13" name="Rectangle 12"/>
          <p:cNvSpPr/>
          <p:nvPr/>
        </p:nvSpPr>
        <p:spPr>
          <a:xfrm>
            <a:off x="461772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61772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79145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0.48</a:t>
            </a:r>
          </a:p>
        </p:txBody>
      </p:sp>
      <p:sp>
        <p:nvSpPr>
          <p:cNvPr id="16" name="TextBox 15"/>
          <p:cNvSpPr txBox="1"/>
          <p:nvPr/>
        </p:nvSpPr>
        <p:spPr>
          <a:xfrm>
            <a:off x="479145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LLaMA-3.1-8B + RAG, GitHub advisories</a:t>
            </a:r>
          </a:p>
        </p:txBody>
      </p:sp>
      <p:sp>
        <p:nvSpPr>
          <p:cNvPr id="17" name="Rectangle 16"/>
          <p:cNvSpPr/>
          <p:nvPr/>
        </p:nvSpPr>
        <p:spPr>
          <a:xfrm>
            <a:off x="672084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72084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9457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0.44</a:t>
            </a:r>
          </a:p>
        </p:txBody>
      </p:sp>
      <p:sp>
        <p:nvSpPr>
          <p:cNvPr id="20" name="TextBox 19"/>
          <p:cNvSpPr txBox="1"/>
          <p:nvPr/>
        </p:nvSpPr>
        <p:spPr>
          <a:xfrm>
            <a:off x="689457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LLaMA-3.1-8B + RAG, malicious setup.py</a:t>
            </a:r>
          </a:p>
        </p:txBody>
      </p:sp>
      <p:sp>
        <p:nvSpPr>
          <p:cNvPr id="21" name="Rectangle 20"/>
          <p:cNvSpPr/>
          <p:nvPr/>
        </p:nvSpPr>
        <p:spPr>
          <a:xfrm>
            <a:off x="411480" y="2103120"/>
            <a:ext cx="4069080" cy="16002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02920" y="213969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What they did</a:t>
            </a:r>
          </a:p>
        </p:txBody>
      </p:sp>
      <p:cxnSp>
        <p:nvCxnSpPr>
          <p:cNvPr id="23" name="Connector 22"/>
          <p:cNvCxnSpPr/>
          <p:nvPr/>
        </p:nvCxnSpPr>
        <p:spPr>
          <a:xfrm>
            <a:off x="539496" y="2468879"/>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2560320"/>
            <a:ext cx="3886200" cy="1097280"/>
          </a:xfrm>
          <a:prstGeom prst="rect">
            <a:avLst/>
          </a:prstGeom>
          <a:noFill/>
        </p:spPr>
        <p:txBody>
          <a:bodyPr wrap="square" lIns="34275" tIns="20550" rIns="34275" bIns="20550" anchor="t">
            <a:spAutoFit/>
          </a:bodyPr>
          <a:lstStyle/>
          <a:p>
            <a:pPr marL="199072" indent="-199072" algn="l">
              <a:spcAft>
                <a:spcPts val="400"/>
              </a:spcAft>
              <a:buClr>
                <a:srgbClr val="BC1C2F"/>
              </a:buClr>
              <a:buSzPts val="1400"/>
              <a:buFont typeface="Arial"/>
              <a:buChar char="•"/>
            </a:pPr>
            <a:r>
              <a:rPr sz="1400" b="0" i="0">
                <a:solidFill>
                  <a:srgbClr val="23272D"/>
                </a:solidFill>
                <a:latin typeface="Calibri"/>
              </a:rPr>
              <a:t>1,242 malicious + 3,752 benign packages</a:t>
            </a:r>
          </a:p>
          <a:p>
            <a:pPr marL="199072" indent="-199072" algn="l">
              <a:spcAft>
                <a:spcPts val="400"/>
              </a:spcAft>
              <a:buClr>
                <a:srgbClr val="BC1C2F"/>
              </a:buClr>
              <a:buSzPts val="1400"/>
              <a:buFont typeface="Arial"/>
              <a:buChar char="•"/>
            </a:pPr>
            <a:r>
              <a:rPr sz="1400" b="0" i="0">
                <a:solidFill>
                  <a:srgbClr val="23272D"/>
                </a:solidFill>
                <a:latin typeface="Calibri"/>
              </a:rPr>
              <a:t>3 knowledge bases, a CRAG-style filter</a:t>
            </a:r>
          </a:p>
          <a:p>
            <a:pPr marL="199072" indent="-199072" algn="l">
              <a:spcAft>
                <a:spcPts val="400"/>
              </a:spcAft>
              <a:buClr>
                <a:srgbClr val="BC1C2F"/>
              </a:buClr>
              <a:buSzPts val="1400"/>
              <a:buFont typeface="Arial"/>
              <a:buChar char="•"/>
            </a:pPr>
            <a:r>
              <a:rPr sz="1400" b="0" i="0">
                <a:solidFill>
                  <a:srgbClr val="23272D"/>
                </a:solidFill>
                <a:latin typeface="Calibri"/>
              </a:rPr>
              <a:t>Compared zero-shot, RAG and fine-tuning</a:t>
            </a:r>
          </a:p>
        </p:txBody>
      </p:sp>
      <p:sp>
        <p:nvSpPr>
          <p:cNvPr id="25" name="Rectangle 24"/>
          <p:cNvSpPr/>
          <p:nvPr/>
        </p:nvSpPr>
        <p:spPr>
          <a:xfrm>
            <a:off x="4617720" y="2103120"/>
            <a:ext cx="4114800" cy="1600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709159" y="213969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What they found</a:t>
            </a:r>
          </a:p>
        </p:txBody>
      </p:sp>
      <p:cxnSp>
        <p:nvCxnSpPr>
          <p:cNvPr id="27" name="Connector 26"/>
          <p:cNvCxnSpPr/>
          <p:nvPr/>
        </p:nvCxnSpPr>
        <p:spPr>
          <a:xfrm>
            <a:off x="4745736" y="2468879"/>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09159" y="2560320"/>
            <a:ext cx="3931920" cy="1097280"/>
          </a:xfrm>
          <a:prstGeom prst="rect">
            <a:avLst/>
          </a:prstGeom>
          <a:noFill/>
        </p:spPr>
        <p:txBody>
          <a:bodyPr wrap="square" lIns="34275" tIns="20550" rIns="34275" bIns="20550" anchor="t">
            <a:spAutoFit/>
          </a:bodyPr>
          <a:lstStyle/>
          <a:p>
            <a:pPr marL="199072" indent="-199072" algn="l">
              <a:spcAft>
                <a:spcPts val="400"/>
              </a:spcAft>
              <a:buClr>
                <a:srgbClr val="BC1C2F"/>
              </a:buClr>
              <a:buSzPts val="1400"/>
              <a:buFont typeface="Arial"/>
              <a:buChar char="•"/>
            </a:pPr>
            <a:r>
              <a:rPr sz="1400" b="0" i="0">
                <a:solidFill>
                  <a:srgbClr val="23272D"/>
                </a:solidFill>
                <a:latin typeface="Calibri"/>
              </a:rPr>
              <a:t>RAG scored </a:t>
            </a:r>
            <a:r>
              <a:rPr sz="1400" b="1" i="0">
                <a:solidFill>
                  <a:srgbClr val="23272D"/>
                </a:solidFill>
                <a:latin typeface="Calibri"/>
              </a:rPr>
              <a:t>below zero-shot</a:t>
            </a:r>
          </a:p>
          <a:p>
            <a:pPr marL="199072" indent="-199072" algn="l">
              <a:spcAft>
                <a:spcPts val="400"/>
              </a:spcAft>
              <a:buClr>
                <a:srgbClr val="BC1C2F"/>
              </a:buClr>
              <a:buSzPts val="1400"/>
              <a:buFont typeface="Arial"/>
              <a:buChar char="•"/>
            </a:pPr>
            <a:r>
              <a:rPr sz="1400" b="0" i="0">
                <a:solidFill>
                  <a:srgbClr val="23272D"/>
                </a:solidFill>
                <a:latin typeface="Calibri"/>
              </a:rPr>
              <a:t>Fine-tuning: F1 above 0.95</a:t>
            </a:r>
          </a:p>
          <a:p>
            <a:pPr marL="199072" indent="-199072" algn="l">
              <a:spcAft>
                <a:spcPts val="400"/>
              </a:spcAft>
              <a:buClr>
                <a:srgbClr val="BC1C2F"/>
              </a:buClr>
              <a:buSzPts val="1400"/>
              <a:buFont typeface="Arial"/>
              <a:buChar char="•"/>
            </a:pPr>
            <a:r>
              <a:rPr sz="1400" b="0" i="0">
                <a:solidFill>
                  <a:srgbClr val="23272D"/>
                </a:solidFill>
                <a:latin typeface="Calibri"/>
              </a:rPr>
              <a:t>No single knowledge base was enough</a:t>
            </a:r>
          </a:p>
        </p:txBody>
      </p:sp>
      <p:sp>
        <p:nvSpPr>
          <p:cNvPr id="29" name="Rectangle 28"/>
          <p:cNvSpPr/>
          <p:nvPr/>
        </p:nvSpPr>
        <p:spPr>
          <a:xfrm>
            <a:off x="411480" y="384048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BC1C2F"/>
                </a:solidFill>
                <a:latin typeface="Calibri"/>
              </a:rPr>
              <a:t>Our question:</a:t>
            </a:r>
            <a:r>
              <a:rPr sz="1400" b="0" i="0">
                <a:solidFill>
                  <a:srgbClr val="23272D"/>
                </a:solidFill>
                <a:latin typeface="Calibri"/>
              </a:rPr>
              <a:t> does RAG come in handy, and why does it fail when it fails?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RAG concepts  |  The RAG pipeline</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Index once offline; retrieve and generate for every question</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6</a:t>
            </a:r>
          </a:p>
        </p:txBody>
      </p:sp>
      <p:sp>
        <p:nvSpPr>
          <p:cNvPr id="5" name="TextBox 4"/>
          <p:cNvSpPr txBox="1"/>
          <p:nvPr/>
        </p:nvSpPr>
        <p:spPr>
          <a:xfrm>
            <a:off x="411480" y="1097280"/>
            <a:ext cx="2743200" cy="274320"/>
          </a:xfrm>
          <a:prstGeom prst="rect">
            <a:avLst/>
          </a:prstGeom>
          <a:noFill/>
        </p:spPr>
        <p:txBody>
          <a:bodyPr wrap="square" lIns="34275" tIns="20550" rIns="34275" bIns="20550" anchor="t">
            <a:spAutoFit/>
          </a:bodyPr>
          <a:lstStyle/>
          <a:p>
            <a:pPr algn="l"/>
            <a:r>
              <a:rPr sz="1200" b="1" i="0">
                <a:solidFill>
                  <a:srgbClr val="555C64"/>
                </a:solidFill>
                <a:latin typeface="Calibri"/>
              </a:rPr>
              <a:t>Offline: indexing</a:t>
            </a:r>
          </a:p>
        </p:txBody>
      </p:sp>
      <p:sp>
        <p:nvSpPr>
          <p:cNvPr id="6" name="Rectangle 5"/>
          <p:cNvSpPr/>
          <p:nvPr/>
        </p:nvSpPr>
        <p:spPr>
          <a:xfrm>
            <a:off x="411480" y="1371600"/>
            <a:ext cx="173736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Documents</a:t>
            </a:r>
          </a:p>
          <a:p>
            <a:pPr algn="ctr"/>
            <a:r>
              <a:rPr sz="1100" b="0" i="0">
                <a:solidFill>
                  <a:srgbClr val="23272D"/>
                </a:solidFill>
                <a:latin typeface="Calibri"/>
              </a:rPr>
              <a:t>papers, rules, pages</a:t>
            </a:r>
          </a:p>
        </p:txBody>
      </p:sp>
      <p:cxnSp>
        <p:nvCxnSpPr>
          <p:cNvPr id="7" name="Connector 6"/>
          <p:cNvCxnSpPr/>
          <p:nvPr/>
        </p:nvCxnSpPr>
        <p:spPr>
          <a:xfrm>
            <a:off x="2176272" y="1719072"/>
            <a:ext cx="40233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606040" y="1371600"/>
            <a:ext cx="173736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Chunking</a:t>
            </a:r>
          </a:p>
          <a:p>
            <a:pPr algn="ctr"/>
            <a:r>
              <a:rPr sz="1100" b="0" i="0">
                <a:solidFill>
                  <a:srgbClr val="23272D"/>
                </a:solidFill>
                <a:latin typeface="Calibri"/>
              </a:rPr>
              <a:t>size and overlap</a:t>
            </a:r>
          </a:p>
        </p:txBody>
      </p:sp>
      <p:cxnSp>
        <p:nvCxnSpPr>
          <p:cNvPr id="9" name="Connector 8"/>
          <p:cNvCxnSpPr/>
          <p:nvPr/>
        </p:nvCxnSpPr>
        <p:spPr>
          <a:xfrm>
            <a:off x="4370832" y="1719072"/>
            <a:ext cx="40233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800600" y="1371600"/>
            <a:ext cx="173736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Embedding + BM25</a:t>
            </a:r>
          </a:p>
          <a:p>
            <a:pPr algn="ctr"/>
            <a:r>
              <a:rPr sz="1100" b="0" i="0">
                <a:solidFill>
                  <a:srgbClr val="23272D"/>
                </a:solidFill>
                <a:latin typeface="Calibri"/>
              </a:rPr>
              <a:t>dense vectors, keywords</a:t>
            </a:r>
          </a:p>
        </p:txBody>
      </p:sp>
      <p:cxnSp>
        <p:nvCxnSpPr>
          <p:cNvPr id="11" name="Connector 10"/>
          <p:cNvCxnSpPr/>
          <p:nvPr/>
        </p:nvCxnSpPr>
        <p:spPr>
          <a:xfrm>
            <a:off x="6565392" y="1719072"/>
            <a:ext cx="40233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995159" y="1371600"/>
            <a:ext cx="173736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Index</a:t>
            </a:r>
          </a:p>
          <a:p>
            <a:pPr algn="ctr"/>
            <a:r>
              <a:rPr sz="1100" b="0" i="0">
                <a:solidFill>
                  <a:srgbClr val="23272D"/>
                </a:solidFill>
                <a:latin typeface="Calibri"/>
              </a:rPr>
              <a:t>vector store + inverted index</a:t>
            </a:r>
          </a:p>
        </p:txBody>
      </p:sp>
      <p:sp>
        <p:nvSpPr>
          <p:cNvPr id="13" name="TextBox 12"/>
          <p:cNvSpPr txBox="1"/>
          <p:nvPr/>
        </p:nvSpPr>
        <p:spPr>
          <a:xfrm>
            <a:off x="411480" y="2240280"/>
            <a:ext cx="2194560" cy="274320"/>
          </a:xfrm>
          <a:prstGeom prst="rect">
            <a:avLst/>
          </a:prstGeom>
          <a:noFill/>
        </p:spPr>
        <p:txBody>
          <a:bodyPr wrap="square" lIns="34275" tIns="20550" rIns="34275" bIns="20550" anchor="t">
            <a:spAutoFit/>
          </a:bodyPr>
          <a:lstStyle/>
          <a:p>
            <a:pPr algn="l"/>
            <a:r>
              <a:rPr sz="1200" b="1" i="0">
                <a:solidFill>
                  <a:srgbClr val="555C64"/>
                </a:solidFill>
                <a:latin typeface="Calibri"/>
              </a:rPr>
              <a:t>Online: for each question</a:t>
            </a:r>
          </a:p>
        </p:txBody>
      </p:sp>
      <p:sp>
        <p:nvSpPr>
          <p:cNvPr id="14" name="Rectangle 13"/>
          <p:cNvSpPr/>
          <p:nvPr/>
        </p:nvSpPr>
        <p:spPr>
          <a:xfrm>
            <a:off x="411480" y="2560320"/>
            <a:ext cx="137160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Question</a:t>
            </a:r>
          </a:p>
          <a:p>
            <a:pPr algn="ctr"/>
            <a:r>
              <a:rPr sz="1050" b="0" i="0">
                <a:solidFill>
                  <a:srgbClr val="23272D"/>
                </a:solidFill>
                <a:latin typeface="Calibri"/>
              </a:rPr>
              <a:t>user query</a:t>
            </a:r>
          </a:p>
        </p:txBody>
      </p:sp>
      <p:cxnSp>
        <p:nvCxnSpPr>
          <p:cNvPr id="15" name="Connector 14"/>
          <p:cNvCxnSpPr/>
          <p:nvPr/>
        </p:nvCxnSpPr>
        <p:spPr>
          <a:xfrm>
            <a:off x="1810512" y="2907792"/>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148840" y="2560320"/>
            <a:ext cx="1371600" cy="685800"/>
          </a:xfrm>
          <a:prstGeom prst="rect">
            <a:avLst/>
          </a:prstGeom>
          <a:solidFill>
            <a:srgbClr val="FBEFF0"/>
          </a:solidFill>
          <a:ln w="1905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BC1C2F"/>
                </a:solidFill>
                <a:latin typeface="Calibri"/>
              </a:rPr>
              <a:t>Retrieve</a:t>
            </a:r>
          </a:p>
          <a:p>
            <a:pPr algn="ctr"/>
            <a:r>
              <a:rPr sz="1050" b="0" i="0">
                <a:solidFill>
                  <a:srgbClr val="23272D"/>
                </a:solidFill>
                <a:latin typeface="Calibri"/>
              </a:rPr>
              <a:t>top-k chunks</a:t>
            </a:r>
          </a:p>
        </p:txBody>
      </p:sp>
      <p:cxnSp>
        <p:nvCxnSpPr>
          <p:cNvPr id="17" name="Connector 16"/>
          <p:cNvCxnSpPr/>
          <p:nvPr/>
        </p:nvCxnSpPr>
        <p:spPr>
          <a:xfrm>
            <a:off x="3547872" y="2907792"/>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886200" y="2560320"/>
            <a:ext cx="137160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Re-rank / filter</a:t>
            </a:r>
          </a:p>
          <a:p>
            <a:pPr algn="ctr"/>
            <a:r>
              <a:rPr sz="1050" b="0" i="0">
                <a:solidFill>
                  <a:srgbClr val="23272D"/>
                </a:solidFill>
                <a:latin typeface="Calibri"/>
              </a:rPr>
              <a:t>drop weak chunks</a:t>
            </a:r>
          </a:p>
        </p:txBody>
      </p:sp>
      <p:cxnSp>
        <p:nvCxnSpPr>
          <p:cNvPr id="19" name="Connector 18"/>
          <p:cNvCxnSpPr/>
          <p:nvPr/>
        </p:nvCxnSpPr>
        <p:spPr>
          <a:xfrm>
            <a:off x="5285232" y="2907792"/>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623559" y="2560320"/>
            <a:ext cx="137160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Augment</a:t>
            </a:r>
          </a:p>
          <a:p>
            <a:pPr algn="ctr"/>
            <a:r>
              <a:rPr sz="1050" b="0" i="0">
                <a:solidFill>
                  <a:srgbClr val="23272D"/>
                </a:solidFill>
                <a:latin typeface="Calibri"/>
              </a:rPr>
              <a:t>chunks + instruction</a:t>
            </a:r>
          </a:p>
        </p:txBody>
      </p:sp>
      <p:cxnSp>
        <p:nvCxnSpPr>
          <p:cNvPr id="21" name="Connector 20"/>
          <p:cNvCxnSpPr/>
          <p:nvPr/>
        </p:nvCxnSpPr>
        <p:spPr>
          <a:xfrm>
            <a:off x="7022592" y="2907792"/>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360919" y="2560320"/>
            <a:ext cx="1371600" cy="68580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00" b="1" i="0">
                <a:solidFill>
                  <a:srgbClr val="23272D"/>
                </a:solidFill>
                <a:latin typeface="Calibri"/>
              </a:rPr>
              <a:t>LLM</a:t>
            </a:r>
          </a:p>
          <a:p>
            <a:pPr algn="ctr"/>
            <a:r>
              <a:rPr sz="1050" b="0" i="0">
                <a:solidFill>
                  <a:srgbClr val="23272D"/>
                </a:solidFill>
                <a:latin typeface="Calibri"/>
              </a:rPr>
              <a:t>writes the answer</a:t>
            </a:r>
          </a:p>
        </p:txBody>
      </p:sp>
      <p:cxnSp>
        <p:nvCxnSpPr>
          <p:cNvPr id="23" name="Connector 22"/>
          <p:cNvCxnSpPr/>
          <p:nvPr/>
        </p:nvCxnSpPr>
        <p:spPr>
          <a:xfrm>
            <a:off x="7863840" y="2057400"/>
            <a:ext cx="0" cy="338328"/>
          </a:xfrm>
          <a:prstGeom prst="line">
            <a:avLst/>
          </a:prstGeom>
          <a:ln w="15240">
            <a:solidFill>
              <a:srgbClr val="7A828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834640" y="2395728"/>
            <a:ext cx="5029200" cy="0"/>
          </a:xfrm>
          <a:prstGeom prst="line">
            <a:avLst/>
          </a:prstGeom>
          <a:ln w="15240">
            <a:solidFill>
              <a:srgbClr val="7A828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834640" y="2395728"/>
            <a:ext cx="0" cy="164592"/>
          </a:xfrm>
          <a:prstGeom prst="line">
            <a:avLst/>
          </a:prstGeom>
          <a:ln w="15240">
            <a:solidFill>
              <a:srgbClr val="7A82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1480" y="3611880"/>
            <a:ext cx="8321040" cy="59436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23272D"/>
                </a:solidFill>
                <a:latin typeface="Calibri"/>
              </a:rPr>
              <a:t>Design choices:</a:t>
            </a:r>
            <a:r>
              <a:rPr sz="1400" b="0" i="0">
                <a:solidFill>
                  <a:srgbClr val="23272D"/>
                </a:solidFill>
                <a:latin typeface="Calibri"/>
              </a:rPr>
              <a:t> chunk size and overlap · sparse, dense or hybrid retrieval · number of chunks k · prompt wording · the LLM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RAG concepts  |  Retrieval: sparse, dense, hybrid</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Each retriever finds different chunks; fusing them is more robust</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7</a:t>
            </a:r>
          </a:p>
        </p:txBody>
      </p:sp>
      <p:sp>
        <p:nvSpPr>
          <p:cNvPr id="5" name="Rectangle 4"/>
          <p:cNvSpPr/>
          <p:nvPr/>
        </p:nvSpPr>
        <p:spPr>
          <a:xfrm>
            <a:off x="411480" y="1143000"/>
            <a:ext cx="1965960" cy="23317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79576"/>
            <a:ext cx="1783080" cy="310896"/>
          </a:xfrm>
          <a:prstGeom prst="rect">
            <a:avLst/>
          </a:prstGeom>
          <a:noFill/>
        </p:spPr>
        <p:txBody>
          <a:bodyPr wrap="square" lIns="34275" tIns="20550" rIns="34275" bIns="20550" anchor="ctr">
            <a:spAutoFit/>
          </a:bodyPr>
          <a:lstStyle/>
          <a:p>
            <a:pPr algn="l"/>
            <a:r>
              <a:rPr sz="1350" b="1" i="0">
                <a:solidFill>
                  <a:srgbClr val="BC1C2F"/>
                </a:solidFill>
                <a:latin typeface="Calibri"/>
              </a:rPr>
              <a:t>BM25 (sparse)</a:t>
            </a:r>
          </a:p>
        </p:txBody>
      </p:sp>
      <p:cxnSp>
        <p:nvCxnSpPr>
          <p:cNvPr id="7" name="Connector 6"/>
          <p:cNvCxnSpPr/>
          <p:nvPr/>
        </p:nvCxnSpPr>
        <p:spPr>
          <a:xfrm>
            <a:off x="539496" y="1508760"/>
            <a:ext cx="170992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 y="1600200"/>
            <a:ext cx="1828800" cy="1828800"/>
          </a:xfrm>
          <a:prstGeom prst="rect">
            <a:avLst/>
          </a:prstGeom>
          <a:noFill/>
        </p:spPr>
        <p:txBody>
          <a:bodyPr wrap="square" lIns="34275" tIns="20550" rIns="34275" bIns="20550" anchor="t">
            <a:spAutoFit/>
          </a:bodyPr>
          <a:lstStyle/>
          <a:p>
            <a:pPr algn="l">
              <a:spcAft>
                <a:spcPts val="800"/>
              </a:spcAft>
            </a:pPr>
            <a:r>
              <a:rPr sz="1350" b="1" i="0">
                <a:solidFill>
                  <a:srgbClr val="23272D"/>
                </a:solidFill>
                <a:latin typeface="Calibri"/>
              </a:rPr>
              <a:t>Idea:</a:t>
            </a:r>
            <a:r>
              <a:rPr sz="1350" b="0" i="0">
                <a:solidFill>
                  <a:srgbClr val="23272D"/>
                </a:solidFill>
                <a:latin typeface="Calibri"/>
              </a:rPr>
              <a:t> word overlap</a:t>
            </a:r>
          </a:p>
          <a:p>
            <a:pPr algn="l">
              <a:spcAft>
                <a:spcPts val="800"/>
              </a:spcAft>
            </a:pPr>
            <a:r>
              <a:rPr sz="1350" b="1" i="0">
                <a:solidFill>
                  <a:srgbClr val="23272D"/>
                </a:solidFill>
                <a:latin typeface="Calibri"/>
              </a:rPr>
              <a:t>Good:</a:t>
            </a:r>
            <a:r>
              <a:rPr sz="1350" b="0" i="0">
                <a:solidFill>
                  <a:srgbClr val="23272D"/>
                </a:solidFill>
                <a:latin typeface="Calibri"/>
              </a:rPr>
              <a:t> names, rare terms, identifiers</a:t>
            </a:r>
          </a:p>
          <a:p>
            <a:pPr algn="l">
              <a:spcAft>
                <a:spcPts val="800"/>
              </a:spcAft>
            </a:pPr>
            <a:r>
              <a:rPr sz="1350" b="1" i="0">
                <a:solidFill>
                  <a:srgbClr val="23272D"/>
                </a:solidFill>
                <a:latin typeface="Calibri"/>
              </a:rPr>
              <a:t>Weak:</a:t>
            </a:r>
            <a:r>
              <a:rPr sz="1350" b="0" i="0">
                <a:solidFill>
                  <a:srgbClr val="23272D"/>
                </a:solidFill>
                <a:latin typeface="Calibri"/>
              </a:rPr>
              <a:t> paraphrases</a:t>
            </a:r>
          </a:p>
        </p:txBody>
      </p:sp>
      <p:sp>
        <p:nvSpPr>
          <p:cNvPr id="9" name="Rectangle 8"/>
          <p:cNvSpPr/>
          <p:nvPr/>
        </p:nvSpPr>
        <p:spPr>
          <a:xfrm>
            <a:off x="2532888" y="1143000"/>
            <a:ext cx="1965960" cy="23317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624328" y="1179576"/>
            <a:ext cx="1783080" cy="310896"/>
          </a:xfrm>
          <a:prstGeom prst="rect">
            <a:avLst/>
          </a:prstGeom>
          <a:noFill/>
        </p:spPr>
        <p:txBody>
          <a:bodyPr wrap="square" lIns="34275" tIns="20550" rIns="34275" bIns="20550" anchor="ctr">
            <a:spAutoFit/>
          </a:bodyPr>
          <a:lstStyle/>
          <a:p>
            <a:pPr algn="l"/>
            <a:r>
              <a:rPr sz="1350" b="1" i="0">
                <a:solidFill>
                  <a:srgbClr val="BC1C2F"/>
                </a:solidFill>
                <a:latin typeface="Calibri"/>
              </a:rPr>
              <a:t>Dense (bge-m3)</a:t>
            </a:r>
          </a:p>
        </p:txBody>
      </p:sp>
      <p:cxnSp>
        <p:nvCxnSpPr>
          <p:cNvPr id="11" name="Connector 10"/>
          <p:cNvCxnSpPr/>
          <p:nvPr/>
        </p:nvCxnSpPr>
        <p:spPr>
          <a:xfrm>
            <a:off x="2660904" y="1508760"/>
            <a:ext cx="170992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606040" y="1600200"/>
            <a:ext cx="1828800" cy="1828800"/>
          </a:xfrm>
          <a:prstGeom prst="rect">
            <a:avLst/>
          </a:prstGeom>
          <a:noFill/>
        </p:spPr>
        <p:txBody>
          <a:bodyPr wrap="square" lIns="34275" tIns="20550" rIns="34275" bIns="20550" anchor="t">
            <a:spAutoFit/>
          </a:bodyPr>
          <a:lstStyle/>
          <a:p>
            <a:pPr algn="l">
              <a:spcAft>
                <a:spcPts val="800"/>
              </a:spcAft>
            </a:pPr>
            <a:r>
              <a:rPr sz="1350" b="1" i="0">
                <a:solidFill>
                  <a:srgbClr val="23272D"/>
                </a:solidFill>
                <a:latin typeface="Calibri"/>
              </a:rPr>
              <a:t>Idea:</a:t>
            </a:r>
            <a:r>
              <a:rPr sz="1350" b="0" i="0">
                <a:solidFill>
                  <a:srgbClr val="23272D"/>
                </a:solidFill>
                <a:latin typeface="Calibri"/>
              </a:rPr>
              <a:t> embed, rank by cosine</a:t>
            </a:r>
          </a:p>
          <a:p>
            <a:pPr algn="l">
              <a:spcAft>
                <a:spcPts val="800"/>
              </a:spcAft>
            </a:pPr>
            <a:r>
              <a:rPr sz="1350" b="1" i="0">
                <a:solidFill>
                  <a:srgbClr val="23272D"/>
                </a:solidFill>
                <a:latin typeface="Calibri"/>
              </a:rPr>
              <a:t>Good:</a:t>
            </a:r>
            <a:r>
              <a:rPr sz="1350" b="0" i="0">
                <a:solidFill>
                  <a:srgbClr val="23272D"/>
                </a:solidFill>
                <a:latin typeface="Calibri"/>
              </a:rPr>
              <a:t> paraphrases, meaning</a:t>
            </a:r>
          </a:p>
          <a:p>
            <a:pPr algn="l">
              <a:spcAft>
                <a:spcPts val="800"/>
              </a:spcAft>
            </a:pPr>
            <a:r>
              <a:rPr sz="1350" b="1" i="0">
                <a:solidFill>
                  <a:srgbClr val="23272D"/>
                </a:solidFill>
                <a:latin typeface="Calibri"/>
              </a:rPr>
              <a:t>Weak:</a:t>
            </a:r>
            <a:r>
              <a:rPr sz="1350" b="0" i="0">
                <a:solidFill>
                  <a:srgbClr val="23272D"/>
                </a:solidFill>
                <a:latin typeface="Calibri"/>
              </a:rPr>
              <a:t> exact tokens</a:t>
            </a:r>
          </a:p>
        </p:txBody>
      </p:sp>
      <p:sp>
        <p:nvSpPr>
          <p:cNvPr id="13" name="Rectangle 12"/>
          <p:cNvSpPr/>
          <p:nvPr/>
        </p:nvSpPr>
        <p:spPr>
          <a:xfrm>
            <a:off x="4654296" y="1143000"/>
            <a:ext cx="1965960" cy="23317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745736" y="1179576"/>
            <a:ext cx="1783080" cy="310896"/>
          </a:xfrm>
          <a:prstGeom prst="rect">
            <a:avLst/>
          </a:prstGeom>
          <a:noFill/>
        </p:spPr>
        <p:txBody>
          <a:bodyPr wrap="square" lIns="34275" tIns="20550" rIns="34275" bIns="20550" anchor="ctr">
            <a:spAutoFit/>
          </a:bodyPr>
          <a:lstStyle/>
          <a:p>
            <a:pPr algn="l"/>
            <a:r>
              <a:rPr sz="1350" b="1" i="0">
                <a:solidFill>
                  <a:srgbClr val="BC1C2F"/>
                </a:solidFill>
                <a:latin typeface="Calibri"/>
              </a:rPr>
              <a:t>Hybrid + RRF</a:t>
            </a:r>
          </a:p>
        </p:txBody>
      </p:sp>
      <p:cxnSp>
        <p:nvCxnSpPr>
          <p:cNvPr id="15" name="Connector 14"/>
          <p:cNvCxnSpPr/>
          <p:nvPr/>
        </p:nvCxnSpPr>
        <p:spPr>
          <a:xfrm>
            <a:off x="4782312" y="1508760"/>
            <a:ext cx="170992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727448" y="1600200"/>
            <a:ext cx="1828800" cy="1828800"/>
          </a:xfrm>
          <a:prstGeom prst="rect">
            <a:avLst/>
          </a:prstGeom>
          <a:noFill/>
        </p:spPr>
        <p:txBody>
          <a:bodyPr wrap="square" lIns="34275" tIns="20550" rIns="34275" bIns="20550" anchor="t">
            <a:spAutoFit/>
          </a:bodyPr>
          <a:lstStyle/>
          <a:p>
            <a:pPr algn="l">
              <a:spcAft>
                <a:spcPts val="800"/>
              </a:spcAft>
            </a:pPr>
            <a:r>
              <a:rPr sz="1350" b="1" i="0">
                <a:solidFill>
                  <a:srgbClr val="23272D"/>
                </a:solidFill>
                <a:latin typeface="Calibri"/>
              </a:rPr>
              <a:t>Idea:</a:t>
            </a:r>
            <a:r>
              <a:rPr sz="1350" b="0" i="0">
                <a:solidFill>
                  <a:srgbClr val="23272D"/>
                </a:solidFill>
                <a:latin typeface="Calibri"/>
              </a:rPr>
              <a:t> fuse both rankings</a:t>
            </a:r>
          </a:p>
          <a:p>
            <a:pPr algn="l">
              <a:spcAft>
                <a:spcPts val="800"/>
              </a:spcAft>
            </a:pPr>
            <a:r>
              <a:rPr sz="1350" b="1" i="0">
                <a:solidFill>
                  <a:srgbClr val="23272D"/>
                </a:solidFill>
                <a:latin typeface="Calibri"/>
              </a:rPr>
              <a:t>Good:</a:t>
            </a:r>
            <a:r>
              <a:rPr sz="1350" b="0" i="0">
                <a:solidFill>
                  <a:srgbClr val="23272D"/>
                </a:solidFill>
                <a:latin typeface="Calibri"/>
              </a:rPr>
              <a:t> robust, no score calibration</a:t>
            </a:r>
          </a:p>
          <a:p>
            <a:pPr algn="l">
              <a:spcAft>
                <a:spcPts val="800"/>
              </a:spcAft>
            </a:pPr>
            <a:r>
              <a:rPr sz="1350" b="1" i="0">
                <a:solidFill>
                  <a:srgbClr val="23272D"/>
                </a:solidFill>
                <a:latin typeface="Calibri"/>
              </a:rPr>
              <a:t>Weak:</a:t>
            </a:r>
            <a:r>
              <a:rPr sz="1350" b="0" i="0">
                <a:solidFill>
                  <a:srgbClr val="23272D"/>
                </a:solidFill>
                <a:latin typeface="Calibri"/>
              </a:rPr>
              <a:t> two indexes to keep</a:t>
            </a:r>
          </a:p>
        </p:txBody>
      </p:sp>
      <p:sp>
        <p:nvSpPr>
          <p:cNvPr id="17" name="Rectangle 16"/>
          <p:cNvSpPr/>
          <p:nvPr/>
        </p:nvSpPr>
        <p:spPr>
          <a:xfrm>
            <a:off x="6775703" y="1143000"/>
            <a:ext cx="1965960" cy="23317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67143" y="1179576"/>
            <a:ext cx="1783080" cy="310896"/>
          </a:xfrm>
          <a:prstGeom prst="rect">
            <a:avLst/>
          </a:prstGeom>
          <a:noFill/>
        </p:spPr>
        <p:txBody>
          <a:bodyPr wrap="square" lIns="34275" tIns="20550" rIns="34275" bIns="20550" anchor="ctr">
            <a:spAutoFit/>
          </a:bodyPr>
          <a:lstStyle/>
          <a:p>
            <a:pPr algn="l"/>
            <a:r>
              <a:rPr sz="1350" b="1" i="0">
                <a:solidFill>
                  <a:srgbClr val="BC1C2F"/>
                </a:solidFill>
                <a:latin typeface="Calibri"/>
              </a:rPr>
              <a:t>Cross-encoder rerank</a:t>
            </a:r>
          </a:p>
        </p:txBody>
      </p:sp>
      <p:cxnSp>
        <p:nvCxnSpPr>
          <p:cNvPr id="19" name="Connector 18"/>
          <p:cNvCxnSpPr/>
          <p:nvPr/>
        </p:nvCxnSpPr>
        <p:spPr>
          <a:xfrm>
            <a:off x="6903719" y="1508760"/>
            <a:ext cx="170992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48855" y="1600200"/>
            <a:ext cx="1828800" cy="1828800"/>
          </a:xfrm>
          <a:prstGeom prst="rect">
            <a:avLst/>
          </a:prstGeom>
          <a:noFill/>
        </p:spPr>
        <p:txBody>
          <a:bodyPr wrap="square" lIns="34275" tIns="20550" rIns="34275" bIns="20550" anchor="t">
            <a:spAutoFit/>
          </a:bodyPr>
          <a:lstStyle/>
          <a:p>
            <a:pPr algn="l">
              <a:spcAft>
                <a:spcPts val="800"/>
              </a:spcAft>
            </a:pPr>
            <a:r>
              <a:rPr sz="1350" b="1" i="0">
                <a:solidFill>
                  <a:srgbClr val="23272D"/>
                </a:solidFill>
                <a:latin typeface="Calibri"/>
              </a:rPr>
              <a:t>Idea:</a:t>
            </a:r>
            <a:r>
              <a:rPr sz="1350" b="0" i="0">
                <a:solidFill>
                  <a:srgbClr val="23272D"/>
                </a:solidFill>
                <a:latin typeface="Calibri"/>
              </a:rPr>
              <a:t> read query and chunk together</a:t>
            </a:r>
          </a:p>
          <a:p>
            <a:pPr algn="l">
              <a:spcAft>
                <a:spcPts val="800"/>
              </a:spcAft>
            </a:pPr>
            <a:r>
              <a:rPr sz="1350" b="1" i="0">
                <a:solidFill>
                  <a:srgbClr val="23272D"/>
                </a:solidFill>
                <a:latin typeface="Calibri"/>
              </a:rPr>
              <a:t>Good:</a:t>
            </a:r>
            <a:r>
              <a:rPr sz="1350" b="0" i="0">
                <a:solidFill>
                  <a:srgbClr val="23272D"/>
                </a:solidFill>
                <a:latin typeface="Calibri"/>
              </a:rPr>
              <a:t> accurate; score in [0, 1]</a:t>
            </a:r>
          </a:p>
          <a:p>
            <a:pPr algn="l">
              <a:spcAft>
                <a:spcPts val="800"/>
              </a:spcAft>
            </a:pPr>
            <a:r>
              <a:rPr sz="1350" b="1" i="0">
                <a:solidFill>
                  <a:srgbClr val="23272D"/>
                </a:solidFill>
                <a:latin typeface="Calibri"/>
              </a:rPr>
              <a:t>Weak:</a:t>
            </a:r>
            <a:r>
              <a:rPr sz="1350" b="0" i="0">
                <a:solidFill>
                  <a:srgbClr val="23272D"/>
                </a:solidFill>
                <a:latin typeface="Calibri"/>
              </a:rPr>
              <a:t> slower, top candidates only</a:t>
            </a:r>
          </a:p>
        </p:txBody>
      </p:sp>
      <p:sp>
        <p:nvSpPr>
          <p:cNvPr id="21" name="Rectangle 20"/>
          <p:cNvSpPr/>
          <p:nvPr/>
        </p:nvSpPr>
        <p:spPr>
          <a:xfrm>
            <a:off x="411480" y="3657600"/>
            <a:ext cx="8321040" cy="54864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RRF:</a:t>
            </a:r>
            <a:r>
              <a:rPr sz="1350" b="0" i="0">
                <a:solidFill>
                  <a:srgbClr val="23272D"/>
                </a:solidFill>
                <a:latin typeface="Calibri"/>
              </a:rPr>
              <a:t> score(c) = Σ 1 / (60 + rank(c)), summed over the rankings. Raw BM25 and cosine scores cannot simply be added.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RAG concepts  |  How RAG helps and how it fails</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Every ingredient has an intended effect and a failure mode we can measure</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8</a:t>
            </a:r>
          </a:p>
        </p:txBody>
      </p:sp>
      <p:graphicFrame>
        <p:nvGraphicFramePr>
          <p:cNvPr id="5" name="Table 4"/>
          <p:cNvGraphicFramePr>
            <a:graphicFrameLocks noGrp="1"/>
          </p:cNvGraphicFramePr>
          <p:nvPr/>
        </p:nvGraphicFramePr>
        <p:xfrm>
          <a:off x="411480" y="1143000"/>
          <a:ext cx="8321039" cy="2743200"/>
        </p:xfrm>
        <a:graphic>
          <a:graphicData uri="http://schemas.openxmlformats.org/drawingml/2006/table">
            <a:tbl>
              <a:tblPr>
                <a:tableStyleId>{DC0D4065-B25F-4A6F-8AB5-7E187B4C6DDA}</a:tableStyleId>
              </a:tblPr>
              <a:tblGrid>
                <a:gridCol w="1686697">
                  <a:extLst>
                    <a:ext uri="{9D8B030D-6E8A-4147-A177-3AD203B41FA5}">
                      <a16:colId xmlns:a16="http://schemas.microsoft.com/office/drawing/2014/main" val="20000"/>
                    </a:ext>
                  </a:extLst>
                </a:gridCol>
                <a:gridCol w="2923608">
                  <a:extLst>
                    <a:ext uri="{9D8B030D-6E8A-4147-A177-3AD203B41FA5}">
                      <a16:colId xmlns:a16="http://schemas.microsoft.com/office/drawing/2014/main" val="20001"/>
                    </a:ext>
                  </a:extLst>
                </a:gridCol>
                <a:gridCol w="3710734">
                  <a:extLst>
                    <a:ext uri="{9D8B030D-6E8A-4147-A177-3AD203B41FA5}">
                      <a16:colId xmlns:a16="http://schemas.microsoft.com/office/drawing/2014/main" val="20002"/>
                    </a:ext>
                  </a:extLst>
                </a:gridCol>
              </a:tblGrid>
              <a:tr h="457200">
                <a:tc>
                  <a:txBody>
                    <a:bodyPr/>
                    <a:lstStyle/>
                    <a:p>
                      <a:pPr algn="l"/>
                      <a:r>
                        <a:rPr sz="1300" b="1" i="0">
                          <a:solidFill>
                            <a:srgbClr val="FFFFFF"/>
                          </a:solidFill>
                          <a:latin typeface="Calibri"/>
                        </a:rPr>
                        <a:t>Ingredient</a:t>
                      </a:r>
                    </a:p>
                  </a:txBody>
                  <a:tcPr marL="41150" marR="41150" marT="13725" marB="13725" anchor="ctr">
                    <a:solidFill>
                      <a:srgbClr val="BC1C2F"/>
                    </a:solidFill>
                  </a:tcPr>
                </a:tc>
                <a:tc>
                  <a:txBody>
                    <a:bodyPr/>
                    <a:lstStyle/>
                    <a:p>
                      <a:pPr algn="l"/>
                      <a:r>
                        <a:rPr sz="1300" b="1" i="0">
                          <a:solidFill>
                            <a:srgbClr val="FFFFFF"/>
                          </a:solidFill>
                          <a:latin typeface="Calibri"/>
                        </a:rPr>
                        <a:t>Intended effect</a:t>
                      </a:r>
                    </a:p>
                  </a:txBody>
                  <a:tcPr marL="41150" marR="41150" marT="13725" marB="13725" anchor="ctr">
                    <a:solidFill>
                      <a:srgbClr val="BC1C2F"/>
                    </a:solidFill>
                  </a:tcPr>
                </a:tc>
                <a:tc>
                  <a:txBody>
                    <a:bodyPr/>
                    <a:lstStyle/>
                    <a:p>
                      <a:pPr algn="l"/>
                      <a:r>
                        <a:rPr sz="1300" b="1" i="0">
                          <a:solidFill>
                            <a:srgbClr val="FFFFFF"/>
                          </a:solidFill>
                          <a:latin typeface="Calibri"/>
                        </a:rPr>
                        <a:t>Typical failure</a:t>
                      </a:r>
                    </a:p>
                  </a:txBody>
                  <a:tcPr marL="41150" marR="41150" marT="13725" marB="13725" anchor="ctr">
                    <a:solidFill>
                      <a:srgbClr val="BC1C2F"/>
                    </a:solidFill>
                  </a:tcPr>
                </a:tc>
                <a:extLst>
                  <a:ext uri="{0D108BD9-81ED-4DB2-BD59-A6C34878D82A}">
                    <a16:rowId xmlns:a16="http://schemas.microsoft.com/office/drawing/2014/main" val="10000"/>
                  </a:ext>
                </a:extLst>
              </a:tr>
              <a:tr h="457200">
                <a:tc>
                  <a:txBody>
                    <a:bodyPr/>
                    <a:lstStyle/>
                    <a:p>
                      <a:pPr algn="l"/>
                      <a:r>
                        <a:rPr sz="1250" b="1" i="0">
                          <a:solidFill>
                            <a:srgbClr val="23272D"/>
                          </a:solidFill>
                          <a:latin typeface="Calibri"/>
                        </a:rPr>
                        <a:t>Knowledge base</a:t>
                      </a:r>
                    </a:p>
                  </a:txBody>
                  <a:tcPr marL="41150" marR="41150" marT="13725" marB="13725" anchor="ctr">
                    <a:solidFill>
                      <a:srgbClr val="F1F3F5"/>
                    </a:solidFill>
                  </a:tcPr>
                </a:tc>
                <a:tc>
                  <a:txBody>
                    <a:bodyPr/>
                    <a:lstStyle/>
                    <a:p>
                      <a:pPr algn="l"/>
                      <a:r>
                        <a:rPr sz="1250" b="0" i="0">
                          <a:solidFill>
                            <a:srgbClr val="23272D"/>
                          </a:solidFill>
                          <a:latin typeface="Calibri"/>
                        </a:rPr>
                        <a:t>Supplies facts the model lacks</a:t>
                      </a:r>
                    </a:p>
                  </a:txBody>
                  <a:tcPr marL="41150" marR="41150" marT="13725" marB="13725" anchor="ctr">
                    <a:solidFill>
                      <a:srgbClr val="F1F3F5"/>
                    </a:solidFill>
                  </a:tcPr>
                </a:tc>
                <a:tc>
                  <a:txBody>
                    <a:bodyPr/>
                    <a:lstStyle/>
                    <a:p>
                      <a:pPr algn="l"/>
                      <a:r>
                        <a:rPr sz="1250" b="0" i="0">
                          <a:solidFill>
                            <a:srgbClr val="23272D"/>
                          </a:solidFill>
                          <a:latin typeface="Calibri"/>
                        </a:rPr>
                        <a:t>Answer not in the KB, or KB unsuited to the task</a:t>
                      </a:r>
                    </a:p>
                  </a:txBody>
                  <a:tcPr marL="41150" marR="41150" marT="13725" marB="13725" anchor="ctr">
                    <a:solidFill>
                      <a:srgbClr val="F1F3F5"/>
                    </a:solidFill>
                  </a:tcPr>
                </a:tc>
                <a:extLst>
                  <a:ext uri="{0D108BD9-81ED-4DB2-BD59-A6C34878D82A}">
                    <a16:rowId xmlns:a16="http://schemas.microsoft.com/office/drawing/2014/main" val="10001"/>
                  </a:ext>
                </a:extLst>
              </a:tr>
              <a:tr h="457200">
                <a:tc>
                  <a:txBody>
                    <a:bodyPr/>
                    <a:lstStyle/>
                    <a:p>
                      <a:pPr algn="l"/>
                      <a:r>
                        <a:rPr sz="1250" b="1" i="0">
                          <a:solidFill>
                            <a:srgbClr val="23272D"/>
                          </a:solidFill>
                          <a:latin typeface="Calibri"/>
                        </a:rPr>
                        <a:t>Retrieval</a:t>
                      </a:r>
                    </a:p>
                  </a:txBody>
                  <a:tcPr marL="41150" marR="41150" marT="13725" marB="13725" anchor="ctr">
                    <a:solidFill>
                      <a:srgbClr val="FFFFFF"/>
                    </a:solidFill>
                  </a:tcPr>
                </a:tc>
                <a:tc>
                  <a:txBody>
                    <a:bodyPr/>
                    <a:lstStyle/>
                    <a:p>
                      <a:pPr algn="l"/>
                      <a:r>
                        <a:rPr sz="1250" b="0" i="0">
                          <a:solidFill>
                            <a:srgbClr val="23272D"/>
                          </a:solidFill>
                          <a:latin typeface="Calibri"/>
                        </a:rPr>
                        <a:t>Finds the passage with the answer</a:t>
                      </a:r>
                    </a:p>
                  </a:txBody>
                  <a:tcPr marL="41150" marR="41150" marT="13725" marB="13725" anchor="ctr">
                    <a:solidFill>
                      <a:srgbClr val="FFFFFF"/>
                    </a:solidFill>
                  </a:tcPr>
                </a:tc>
                <a:tc>
                  <a:txBody>
                    <a:bodyPr/>
                    <a:lstStyle/>
                    <a:p>
                      <a:pPr algn="l"/>
                      <a:r>
                        <a:rPr sz="1250" b="0" i="0">
                          <a:solidFill>
                            <a:srgbClr val="23272D"/>
                          </a:solidFill>
                          <a:latin typeface="Calibri"/>
                        </a:rPr>
                        <a:t>Miss; a distractor ranks higher</a:t>
                      </a:r>
                    </a:p>
                  </a:txBody>
                  <a:tcPr marL="41150" marR="41150" marT="13725" marB="13725" anchor="ctr">
                    <a:solidFill>
                      <a:srgbClr val="FFFFFF"/>
                    </a:solidFill>
                  </a:tcPr>
                </a:tc>
                <a:extLst>
                  <a:ext uri="{0D108BD9-81ED-4DB2-BD59-A6C34878D82A}">
                    <a16:rowId xmlns:a16="http://schemas.microsoft.com/office/drawing/2014/main" val="10002"/>
                  </a:ext>
                </a:extLst>
              </a:tr>
              <a:tr h="457200">
                <a:tc>
                  <a:txBody>
                    <a:bodyPr/>
                    <a:lstStyle/>
                    <a:p>
                      <a:pPr algn="l"/>
                      <a:r>
                        <a:rPr sz="1250" b="1" i="0">
                          <a:solidFill>
                            <a:srgbClr val="23272D"/>
                          </a:solidFill>
                          <a:latin typeface="Calibri"/>
                        </a:rPr>
                        <a:t>Augmented prompt</a:t>
                      </a:r>
                    </a:p>
                  </a:txBody>
                  <a:tcPr marL="41150" marR="41150" marT="13725" marB="13725" anchor="ctr">
                    <a:solidFill>
                      <a:srgbClr val="F1F3F5"/>
                    </a:solidFill>
                  </a:tcPr>
                </a:tc>
                <a:tc>
                  <a:txBody>
                    <a:bodyPr/>
                    <a:lstStyle/>
                    <a:p>
                      <a:pPr algn="l"/>
                      <a:r>
                        <a:rPr sz="1250" b="0" i="0">
                          <a:solidFill>
                            <a:srgbClr val="23272D"/>
                          </a:solidFill>
                          <a:latin typeface="Calibri"/>
                        </a:rPr>
                        <a:t>“Answer only from the text”</a:t>
                      </a:r>
                    </a:p>
                  </a:txBody>
                  <a:tcPr marL="41150" marR="41150" marT="13725" marB="13725" anchor="ctr">
                    <a:solidFill>
                      <a:srgbClr val="F1F3F5"/>
                    </a:solidFill>
                  </a:tcPr>
                </a:tc>
                <a:tc>
                  <a:txBody>
                    <a:bodyPr/>
                    <a:lstStyle/>
                    <a:p>
                      <a:pPr algn="l"/>
                      <a:r>
                        <a:rPr sz="1250" b="0" i="0">
                          <a:solidFill>
                            <a:srgbClr val="23272D"/>
                          </a:solidFill>
                          <a:latin typeface="Calibri"/>
                        </a:rPr>
                        <a:t>Model ignores it; irrelevant context distracts</a:t>
                      </a:r>
                    </a:p>
                  </a:txBody>
                  <a:tcPr marL="41150" marR="41150" marT="13725" marB="13725" anchor="ctr">
                    <a:solidFill>
                      <a:srgbClr val="F1F3F5"/>
                    </a:solidFill>
                  </a:tcPr>
                </a:tc>
                <a:extLst>
                  <a:ext uri="{0D108BD9-81ED-4DB2-BD59-A6C34878D82A}">
                    <a16:rowId xmlns:a16="http://schemas.microsoft.com/office/drawing/2014/main" val="10003"/>
                  </a:ext>
                </a:extLst>
              </a:tr>
              <a:tr h="457200">
                <a:tc>
                  <a:txBody>
                    <a:bodyPr/>
                    <a:lstStyle/>
                    <a:p>
                      <a:pPr algn="l"/>
                      <a:r>
                        <a:rPr sz="1250" b="1" i="0">
                          <a:solidFill>
                            <a:srgbClr val="23272D"/>
                          </a:solidFill>
                          <a:latin typeface="Calibri"/>
                        </a:rPr>
                        <a:t>Generation</a:t>
                      </a:r>
                    </a:p>
                  </a:txBody>
                  <a:tcPr marL="41150" marR="41150" marT="13725" marB="13725" anchor="ctr">
                    <a:solidFill>
                      <a:srgbClr val="FFFFFF"/>
                    </a:solidFill>
                  </a:tcPr>
                </a:tc>
                <a:tc>
                  <a:txBody>
                    <a:bodyPr/>
                    <a:lstStyle/>
                    <a:p>
                      <a:pPr algn="l"/>
                      <a:r>
                        <a:rPr sz="1250" b="0" i="0">
                          <a:solidFill>
                            <a:srgbClr val="23272D"/>
                          </a:solidFill>
                          <a:latin typeface="Calibri"/>
                        </a:rPr>
                        <a:t>Copies or paraphrases the evidence</a:t>
                      </a:r>
                    </a:p>
                  </a:txBody>
                  <a:tcPr marL="41150" marR="41150" marT="13725" marB="13725" anchor="ctr">
                    <a:solidFill>
                      <a:srgbClr val="FFFFFF"/>
                    </a:solidFill>
                  </a:tcPr>
                </a:tc>
                <a:tc>
                  <a:txBody>
                    <a:bodyPr/>
                    <a:lstStyle/>
                    <a:p>
                      <a:pPr algn="l"/>
                      <a:r>
                        <a:rPr sz="1250" b="0" i="0">
                          <a:solidFill>
                            <a:srgbClr val="23272D"/>
                          </a:solidFill>
                          <a:latin typeface="Calibri"/>
                        </a:rPr>
                        <a:t>Copies a span that answers another question</a:t>
                      </a:r>
                    </a:p>
                  </a:txBody>
                  <a:tcPr marL="41150" marR="41150" marT="13725" marB="13725" anchor="ctr">
                    <a:solidFill>
                      <a:srgbClr val="FFFFFF"/>
                    </a:solidFill>
                  </a:tcPr>
                </a:tc>
                <a:extLst>
                  <a:ext uri="{0D108BD9-81ED-4DB2-BD59-A6C34878D82A}">
                    <a16:rowId xmlns:a16="http://schemas.microsoft.com/office/drawing/2014/main" val="10004"/>
                  </a:ext>
                </a:extLst>
              </a:tr>
              <a:tr h="457200">
                <a:tc>
                  <a:txBody>
                    <a:bodyPr/>
                    <a:lstStyle/>
                    <a:p>
                      <a:pPr algn="l"/>
                      <a:r>
                        <a:rPr sz="1250" b="1" i="0">
                          <a:solidFill>
                            <a:srgbClr val="23272D"/>
                          </a:solidFill>
                          <a:latin typeface="Calibri"/>
                        </a:rPr>
                        <a:t>Post-hoc check</a:t>
                      </a:r>
                    </a:p>
                  </a:txBody>
                  <a:tcPr marL="41150" marR="41150" marT="13725" marB="13725" anchor="ctr">
                    <a:solidFill>
                      <a:srgbClr val="F1F3F5"/>
                    </a:solidFill>
                  </a:tcPr>
                </a:tc>
                <a:tc>
                  <a:txBody>
                    <a:bodyPr/>
                    <a:lstStyle/>
                    <a:p>
                      <a:pPr algn="l"/>
                      <a:r>
                        <a:rPr sz="1250" b="0" i="0">
                          <a:solidFill>
                            <a:srgbClr val="23272D"/>
                          </a:solidFill>
                          <a:latin typeface="Calibri"/>
                        </a:rPr>
                        <a:t>Withholds unsupported answers</a:t>
                      </a:r>
                    </a:p>
                  </a:txBody>
                  <a:tcPr marL="41150" marR="41150" marT="13725" marB="13725" anchor="ctr">
                    <a:solidFill>
                      <a:srgbClr val="F1F3F5"/>
                    </a:solidFill>
                  </a:tcPr>
                </a:tc>
                <a:tc>
                  <a:txBody>
                    <a:bodyPr/>
                    <a:lstStyle/>
                    <a:p>
                      <a:pPr algn="l"/>
                      <a:r>
                        <a:rPr sz="1250" b="0" i="0">
                          <a:solidFill>
                            <a:srgbClr val="23272D"/>
                          </a:solidFill>
                          <a:latin typeface="Calibri"/>
                        </a:rPr>
                        <a:t>Lowers coverage; grounded but wrong passes</a:t>
                      </a:r>
                    </a:p>
                  </a:txBody>
                  <a:tcPr marL="41150" marR="41150" marT="13725" marB="13725" anchor="ctr">
                    <a:solidFill>
                      <a:srgbClr val="F1F3F5"/>
                    </a:solidFill>
                  </a:tcPr>
                </a:tc>
                <a:extLst>
                  <a:ext uri="{0D108BD9-81ED-4DB2-BD59-A6C34878D82A}">
                    <a16:rowId xmlns:a16="http://schemas.microsoft.com/office/drawing/2014/main" val="10005"/>
                  </a:ext>
                </a:extLst>
              </a:tr>
            </a:tbl>
          </a:graphicData>
        </a:graphic>
      </p:graphicFrame>
      <p:sp>
        <p:nvSpPr>
          <p:cNvPr id="6" name="Rectangle 5"/>
          <p:cNvSpPr/>
          <p:nvPr/>
        </p:nvSpPr>
        <p:spPr>
          <a:xfrm>
            <a:off x="411480" y="4023360"/>
            <a:ext cx="8321040" cy="41148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BC1C2F"/>
                </a:solidFill>
                <a:latin typeface="Calibri"/>
              </a:rPr>
              <a:t>Our studies measure these failure modes,</a:t>
            </a:r>
            <a:r>
              <a:rPr sz="1400" b="0" i="0">
                <a:solidFill>
                  <a:srgbClr val="23272D"/>
                </a:solidFill>
                <a:latin typeface="Calibri"/>
              </a:rPr>
              <a:t> not only the final score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RAG concepts  |  Measuring hallucination</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Three labels per answer; abstaining is better than a wrong answer</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9</a:t>
            </a:r>
          </a:p>
        </p:txBody>
      </p:sp>
      <p:sp>
        <p:nvSpPr>
          <p:cNvPr id="5" name="Rectangle 4"/>
          <p:cNvSpPr/>
          <p:nvPr/>
        </p:nvSpPr>
        <p:spPr>
          <a:xfrm>
            <a:off x="411480" y="1188720"/>
            <a:ext cx="2743200" cy="640080"/>
          </a:xfrm>
          <a:prstGeom prst="rect">
            <a:avLst/>
          </a:prstGeom>
          <a:solidFill>
            <a:srgbClr val="E6F2EA"/>
          </a:solidFill>
          <a:ln>
            <a:no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216152"/>
            <a:ext cx="2560320" cy="585216"/>
          </a:xfrm>
          <a:prstGeom prst="rect">
            <a:avLst/>
          </a:prstGeom>
          <a:noFill/>
        </p:spPr>
        <p:txBody>
          <a:bodyPr wrap="square" lIns="34275" tIns="20550" rIns="34275" bIns="20550" anchor="ctr">
            <a:spAutoFit/>
          </a:bodyPr>
          <a:lstStyle/>
          <a:p>
            <a:pPr algn="ctr"/>
            <a:r>
              <a:rPr sz="1300" b="1" i="0">
                <a:solidFill>
                  <a:srgbClr val="23272D"/>
                </a:solidFill>
                <a:latin typeface="Calibri"/>
              </a:rPr>
              <a:t>Accurate</a:t>
            </a:r>
          </a:p>
          <a:p>
            <a:pPr algn="ctr"/>
            <a:r>
              <a:rPr sz="1300" b="0" i="0">
                <a:solidFill>
                  <a:srgbClr val="23272D"/>
                </a:solidFill>
                <a:latin typeface="Calibri"/>
              </a:rPr>
              <a:t>+1  matches a gold answer</a:t>
            </a:r>
          </a:p>
        </p:txBody>
      </p:sp>
      <p:sp>
        <p:nvSpPr>
          <p:cNvPr id="7" name="Rectangle 6"/>
          <p:cNvSpPr/>
          <p:nvPr/>
        </p:nvSpPr>
        <p:spPr>
          <a:xfrm>
            <a:off x="411480" y="1965960"/>
            <a:ext cx="2743200" cy="640080"/>
          </a:xfrm>
          <a:prstGeom prst="rect">
            <a:avLst/>
          </a:prstGeom>
          <a:solidFill>
            <a:srgbClr val="FFF4D6"/>
          </a:solidFill>
          <a:ln>
            <a:no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02920" y="1993392"/>
            <a:ext cx="2560320" cy="585216"/>
          </a:xfrm>
          <a:prstGeom prst="rect">
            <a:avLst/>
          </a:prstGeom>
          <a:noFill/>
        </p:spPr>
        <p:txBody>
          <a:bodyPr wrap="square" lIns="34275" tIns="20550" rIns="34275" bIns="20550" anchor="ctr">
            <a:spAutoFit/>
          </a:bodyPr>
          <a:lstStyle/>
          <a:p>
            <a:pPr algn="ctr"/>
            <a:r>
              <a:rPr sz="1300" b="1" i="0">
                <a:solidFill>
                  <a:srgbClr val="23272D"/>
                </a:solidFill>
                <a:latin typeface="Calibri"/>
              </a:rPr>
              <a:t>Missing</a:t>
            </a:r>
          </a:p>
          <a:p>
            <a:pPr algn="ctr"/>
            <a:r>
              <a:rPr sz="1300" b="0" i="0">
                <a:solidFill>
                  <a:srgbClr val="23272D"/>
                </a:solidFill>
                <a:latin typeface="Calibri"/>
              </a:rPr>
              <a:t>0  declines: “I don’t know”</a:t>
            </a:r>
          </a:p>
        </p:txBody>
      </p:sp>
      <p:sp>
        <p:nvSpPr>
          <p:cNvPr id="9" name="Rectangle 8"/>
          <p:cNvSpPr/>
          <p:nvPr/>
        </p:nvSpPr>
        <p:spPr>
          <a:xfrm>
            <a:off x="411480" y="2743200"/>
            <a:ext cx="2743200" cy="640080"/>
          </a:xfrm>
          <a:prstGeom prst="rect">
            <a:avLst/>
          </a:prstGeom>
          <a:solidFill>
            <a:srgbClr val="FBEFF0"/>
          </a:solidFill>
          <a:ln>
            <a:no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02920" y="2770632"/>
            <a:ext cx="2560320" cy="585216"/>
          </a:xfrm>
          <a:prstGeom prst="rect">
            <a:avLst/>
          </a:prstGeom>
          <a:noFill/>
        </p:spPr>
        <p:txBody>
          <a:bodyPr wrap="square" lIns="34275" tIns="20550" rIns="34275" bIns="20550" anchor="ctr">
            <a:spAutoFit/>
          </a:bodyPr>
          <a:lstStyle/>
          <a:p>
            <a:pPr algn="ctr"/>
            <a:r>
              <a:rPr sz="1300" b="1" i="0">
                <a:solidFill>
                  <a:srgbClr val="23272D"/>
                </a:solidFill>
                <a:latin typeface="Calibri"/>
              </a:rPr>
              <a:t>Hallucinated</a:t>
            </a:r>
          </a:p>
          <a:p>
            <a:pPr algn="ctr"/>
            <a:r>
              <a:rPr sz="1300" b="0" i="0">
                <a:solidFill>
                  <a:srgbClr val="23272D"/>
                </a:solidFill>
                <a:latin typeface="Calibri"/>
              </a:rPr>
              <a:t>−1  wrong or unsupported</a:t>
            </a:r>
          </a:p>
        </p:txBody>
      </p:sp>
      <p:sp>
        <p:nvSpPr>
          <p:cNvPr id="11" name="Rectangle 10"/>
          <p:cNvSpPr/>
          <p:nvPr/>
        </p:nvSpPr>
        <p:spPr>
          <a:xfrm>
            <a:off x="3474720" y="1143000"/>
            <a:ext cx="5257800" cy="22860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566160" y="1179576"/>
            <a:ext cx="5074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Metrics</a:t>
            </a:r>
          </a:p>
        </p:txBody>
      </p:sp>
      <p:cxnSp>
        <p:nvCxnSpPr>
          <p:cNvPr id="13" name="Connector 12"/>
          <p:cNvCxnSpPr/>
          <p:nvPr/>
        </p:nvCxnSpPr>
        <p:spPr>
          <a:xfrm>
            <a:off x="3602736" y="1508760"/>
            <a:ext cx="5001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566160" y="1600200"/>
            <a:ext cx="5074920" cy="1783080"/>
          </a:xfrm>
          <a:prstGeom prst="rect">
            <a:avLst/>
          </a:prstGeom>
          <a:noFill/>
        </p:spPr>
        <p:txBody>
          <a:bodyPr wrap="square" lIns="34275" tIns="20550" rIns="34275" bIns="20550" anchor="t">
            <a:spAutoFit/>
          </a:bodyPr>
          <a:lstStyle/>
          <a:p>
            <a:pPr marL="199072" indent="-199072" algn="l">
              <a:spcAft>
                <a:spcPts val="600"/>
              </a:spcAft>
              <a:buClr>
                <a:srgbClr val="BC1C2F"/>
              </a:buClr>
              <a:buSzPts val="1350"/>
              <a:buFont typeface="Arial"/>
              <a:buChar char="•"/>
            </a:pPr>
            <a:r>
              <a:rPr sz="1350" b="1" i="0">
                <a:solidFill>
                  <a:srgbClr val="23272D"/>
                </a:solidFill>
                <a:latin typeface="Calibri"/>
              </a:rPr>
              <a:t>Truthfulness</a:t>
            </a:r>
            <a:r>
              <a:rPr sz="1350" b="0" i="0">
                <a:solidFill>
                  <a:srgbClr val="23272D"/>
                </a:solidFill>
                <a:latin typeface="Calibri"/>
              </a:rPr>
              <a:t> T = Acc − Hal (main score)</a:t>
            </a:r>
          </a:p>
          <a:p>
            <a:pPr marL="199072" indent="-199072" algn="l">
              <a:spcAft>
                <a:spcPts val="600"/>
              </a:spcAft>
              <a:buClr>
                <a:srgbClr val="BC1C2F"/>
              </a:buClr>
              <a:buSzPts val="1350"/>
              <a:buFont typeface="Arial"/>
              <a:buChar char="•"/>
            </a:pPr>
            <a:r>
              <a:rPr sz="1350" b="1" i="0">
                <a:solidFill>
                  <a:srgbClr val="23272D"/>
                </a:solidFill>
                <a:latin typeface="Calibri"/>
              </a:rPr>
              <a:t>Coverage</a:t>
            </a:r>
            <a:r>
              <a:rPr sz="1350" b="0" i="0">
                <a:solidFill>
                  <a:srgbClr val="23272D"/>
                </a:solidFill>
                <a:latin typeface="Calibri"/>
              </a:rPr>
              <a:t> = 1 − Missing; </a:t>
            </a:r>
            <a:r>
              <a:rPr sz="1350" b="1" i="0">
                <a:solidFill>
                  <a:srgbClr val="23272D"/>
                </a:solidFill>
                <a:latin typeface="Calibri"/>
              </a:rPr>
              <a:t>selective risk</a:t>
            </a:r>
            <a:r>
              <a:rPr sz="1350" b="0" i="0">
                <a:solidFill>
                  <a:srgbClr val="23272D"/>
                </a:solidFill>
                <a:latin typeface="Calibri"/>
              </a:rPr>
              <a:t> = Hal / answered</a:t>
            </a:r>
          </a:p>
          <a:p>
            <a:pPr marL="199072" indent="-199072" algn="l">
              <a:spcAft>
                <a:spcPts val="600"/>
              </a:spcAft>
              <a:buClr>
                <a:srgbClr val="BC1C2F"/>
              </a:buClr>
              <a:buSzPts val="1350"/>
              <a:buFont typeface="Arial"/>
              <a:buChar char="•"/>
            </a:pPr>
            <a:r>
              <a:rPr sz="1350" b="1" i="0">
                <a:solidFill>
                  <a:srgbClr val="23272D"/>
                </a:solidFill>
                <a:latin typeface="Calibri"/>
              </a:rPr>
              <a:t>Retrieval:</a:t>
            </a:r>
            <a:r>
              <a:rPr sz="1350" b="0" i="0">
                <a:solidFill>
                  <a:srgbClr val="23272D"/>
                </a:solidFill>
                <a:latin typeface="Calibri"/>
              </a:rPr>
              <a:t> recall@k, MRR</a:t>
            </a:r>
          </a:p>
          <a:p>
            <a:pPr marL="199072" indent="-199072" algn="l">
              <a:spcAft>
                <a:spcPts val="600"/>
              </a:spcAft>
              <a:buClr>
                <a:srgbClr val="BC1C2F"/>
              </a:buClr>
              <a:buSzPts val="1350"/>
              <a:buFont typeface="Arial"/>
              <a:buChar char="•"/>
            </a:pPr>
            <a:r>
              <a:rPr sz="1350" b="1" i="0">
                <a:solidFill>
                  <a:srgbClr val="23272D"/>
                </a:solidFill>
                <a:latin typeface="Calibri"/>
              </a:rPr>
              <a:t>Faithfulness:</a:t>
            </a:r>
            <a:r>
              <a:rPr sz="1350" b="0" i="0">
                <a:solidFill>
                  <a:srgbClr val="23272D"/>
                </a:solidFill>
                <a:latin typeface="Calibri"/>
              </a:rPr>
              <a:t> HHEM, MiniCheck, LettuceDetect</a:t>
            </a:r>
          </a:p>
          <a:p>
            <a:pPr marL="199072" indent="-199072" algn="l">
              <a:spcAft>
                <a:spcPts val="600"/>
              </a:spcAft>
              <a:buClr>
                <a:srgbClr val="BC1C2F"/>
              </a:buClr>
              <a:buSzPts val="1350"/>
              <a:buFont typeface="Arial"/>
              <a:buChar char="•"/>
            </a:pPr>
            <a:r>
              <a:rPr sz="1350" b="1" i="0">
                <a:solidFill>
                  <a:srgbClr val="23272D"/>
                </a:solidFill>
                <a:latin typeface="Calibri"/>
              </a:rPr>
              <a:t>LLM judge</a:t>
            </a:r>
            <a:r>
              <a:rPr sz="1350" b="0" i="0">
                <a:solidFill>
                  <a:srgbClr val="23272D"/>
                </a:solidFill>
                <a:latin typeface="Calibri"/>
              </a:rPr>
              <a:t> from another model family</a:t>
            </a:r>
          </a:p>
        </p:txBody>
      </p:sp>
      <p:sp>
        <p:nvSpPr>
          <p:cNvPr id="15" name="Rectangle 14"/>
          <p:cNvSpPr/>
          <p:nvPr/>
        </p:nvSpPr>
        <p:spPr>
          <a:xfrm>
            <a:off x="411480" y="3657600"/>
            <a:ext cx="8321040" cy="54864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BC1C2F"/>
                </a:solidFill>
                <a:latin typeface="Calibri"/>
              </a:rPr>
              <a:t>Trade-off:</a:t>
            </a:r>
            <a:r>
              <a:rPr sz="1400" b="0" i="0">
                <a:solidFill>
                  <a:srgbClr val="23272D"/>
                </a:solidFill>
                <a:latin typeface="Calibri"/>
              </a:rPr>
              <a:t> refusing more lowers errors on the rest, but also lowers coverage and helpfulness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Our approach  |  Two linked studies</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One code base, two questions about RAG and hallucination</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10</a:t>
            </a:r>
          </a:p>
        </p:txBody>
      </p:sp>
      <p:sp>
        <p:nvSpPr>
          <p:cNvPr id="5" name="Rectangle 4"/>
          <p:cNvSpPr/>
          <p:nvPr/>
        </p:nvSpPr>
        <p:spPr>
          <a:xfrm>
            <a:off x="411480" y="1097280"/>
            <a:ext cx="4069080" cy="25146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3385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E1  |  CRAG ladder (general QA)</a:t>
            </a:r>
          </a:p>
        </p:txBody>
      </p:sp>
      <p:cxnSp>
        <p:nvCxnSpPr>
          <p:cNvPr id="7" name="Connector 6"/>
          <p:cNvCxnSpPr/>
          <p:nvPr/>
        </p:nvCxnSpPr>
        <p:spPr>
          <a:xfrm>
            <a:off x="539496" y="1463040"/>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554480"/>
            <a:ext cx="3886200" cy="2011680"/>
          </a:xfrm>
          <a:prstGeom prst="rect">
            <a:avLst/>
          </a:prstGeom>
          <a:noFill/>
        </p:spPr>
        <p:txBody>
          <a:bodyPr wrap="square" lIns="34275" tIns="20550" rIns="34275" bIns="20550" anchor="t">
            <a:spAutoFit/>
          </a:bodyPr>
          <a:lstStyle/>
          <a:p>
            <a:pPr marL="199072" indent="-199072" algn="l">
              <a:spcAft>
                <a:spcPts val="700"/>
              </a:spcAft>
              <a:buClr>
                <a:srgbClr val="BC1C2F"/>
              </a:buClr>
              <a:buSzPts val="1450"/>
              <a:buFont typeface="Arial"/>
              <a:buChar char="•"/>
            </a:pPr>
            <a:r>
              <a:rPr sz="1450" b="0" i="0">
                <a:solidFill>
                  <a:srgbClr val="23272D"/>
                </a:solidFill>
                <a:latin typeface="Calibri"/>
              </a:rPr>
              <a:t>CRAG benchmark, </a:t>
            </a:r>
            <a:r>
              <a:rPr sz="1450" b="1" i="0">
                <a:solidFill>
                  <a:srgbClr val="23272D"/>
                </a:solidFill>
                <a:latin typeface="Calibri"/>
              </a:rPr>
              <a:t>1,335</a:t>
            </a:r>
            <a:r>
              <a:rPr sz="1450" b="0" i="0">
                <a:solidFill>
                  <a:srgbClr val="23272D"/>
                </a:solidFill>
                <a:latin typeface="Calibri"/>
              </a:rPr>
              <a:t> test questions</a:t>
            </a:r>
          </a:p>
          <a:p>
            <a:pPr marL="199072" indent="-199072" algn="l">
              <a:spcAft>
                <a:spcPts val="700"/>
              </a:spcAft>
              <a:buClr>
                <a:srgbClr val="BC1C2F"/>
              </a:buClr>
              <a:buSzPts val="1450"/>
              <a:buFont typeface="Arial"/>
              <a:buChar char="•"/>
            </a:pPr>
            <a:r>
              <a:rPr sz="1450" b="0" i="0">
                <a:solidFill>
                  <a:srgbClr val="23272D"/>
                </a:solidFill>
                <a:latin typeface="Calibri"/>
              </a:rPr>
              <a:t>Llama-3-8B-Instruct, 4,000-token budget</a:t>
            </a:r>
          </a:p>
          <a:p>
            <a:pPr marL="199072" indent="-199072" algn="l">
              <a:spcAft>
                <a:spcPts val="700"/>
              </a:spcAft>
              <a:buClr>
                <a:srgbClr val="BC1C2F"/>
              </a:buClr>
              <a:buSzPts val="1450"/>
              <a:buFont typeface="Arial"/>
              <a:buChar char="•"/>
            </a:pPr>
            <a:r>
              <a:rPr sz="1450" b="1" i="0">
                <a:solidFill>
                  <a:srgbClr val="23272D"/>
                </a:solidFill>
                <a:latin typeface="Calibri"/>
              </a:rPr>
              <a:t>B0 → B5:</a:t>
            </a:r>
            <a:r>
              <a:rPr sz="1450" b="0" i="0">
                <a:solidFill>
                  <a:srgbClr val="23272D"/>
                </a:solidFill>
                <a:latin typeface="Calibri"/>
              </a:rPr>
              <a:t> one component added per step</a:t>
            </a:r>
          </a:p>
          <a:p>
            <a:pPr marL="199072" indent="-199072" algn="l">
              <a:spcAft>
                <a:spcPts val="700"/>
              </a:spcAft>
              <a:buClr>
                <a:srgbClr val="BC1C2F"/>
              </a:buClr>
              <a:buSzPts val="1450"/>
              <a:buFont typeface="Arial"/>
              <a:buChar char="•"/>
            </a:pPr>
            <a:r>
              <a:rPr sz="1450" b="0" i="0">
                <a:solidFill>
                  <a:srgbClr val="23272D"/>
                </a:solidFill>
                <a:latin typeface="Calibri"/>
              </a:rPr>
              <a:t>Two independent graders</a:t>
            </a:r>
          </a:p>
        </p:txBody>
      </p:sp>
      <p:sp>
        <p:nvSpPr>
          <p:cNvPr id="9" name="Rectangle 8"/>
          <p:cNvSpPr/>
          <p:nvPr/>
        </p:nvSpPr>
        <p:spPr>
          <a:xfrm>
            <a:off x="4663440" y="1097280"/>
            <a:ext cx="4069080" cy="25146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754879" y="113385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E2  |  Malicious PyPI package detection</a:t>
            </a:r>
          </a:p>
        </p:txBody>
      </p:sp>
      <p:cxnSp>
        <p:nvCxnSpPr>
          <p:cNvPr id="11" name="Connector 10"/>
          <p:cNvCxnSpPr/>
          <p:nvPr/>
        </p:nvCxnSpPr>
        <p:spPr>
          <a:xfrm>
            <a:off x="4791455" y="1463040"/>
            <a:ext cx="3813049"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54880" y="1554480"/>
            <a:ext cx="3886200" cy="2011680"/>
          </a:xfrm>
          <a:prstGeom prst="rect">
            <a:avLst/>
          </a:prstGeom>
          <a:noFill/>
        </p:spPr>
        <p:txBody>
          <a:bodyPr wrap="square" lIns="34275" tIns="20550" rIns="34275" bIns="20550" anchor="t">
            <a:spAutoFit/>
          </a:bodyPr>
          <a:lstStyle/>
          <a:p>
            <a:pPr marL="199072" indent="-199072" algn="l">
              <a:spcAft>
                <a:spcPts val="700"/>
              </a:spcAft>
              <a:buClr>
                <a:srgbClr val="BC1C2F"/>
              </a:buClr>
              <a:buSzPts val="1450"/>
              <a:buFont typeface="Arial"/>
              <a:buChar char="•"/>
            </a:pPr>
            <a:r>
              <a:rPr sz="1450" b="0" i="0">
                <a:solidFill>
                  <a:srgbClr val="23272D"/>
                </a:solidFill>
                <a:latin typeface="Calibri"/>
              </a:rPr>
              <a:t>Reproduce the reference study</a:t>
            </a:r>
          </a:p>
          <a:p>
            <a:pPr marL="199072" indent="-199072" algn="l">
              <a:spcAft>
                <a:spcPts val="700"/>
              </a:spcAft>
              <a:buClr>
                <a:srgbClr val="BC1C2F"/>
              </a:buClr>
              <a:buSzPts val="1450"/>
              <a:buFont typeface="Arial"/>
              <a:buChar char="•"/>
            </a:pPr>
            <a:r>
              <a:rPr sz="1450" b="0" i="0">
                <a:solidFill>
                  <a:srgbClr val="23272D"/>
                </a:solidFill>
                <a:latin typeface="Calibri"/>
              </a:rPr>
              <a:t>Qwen2.5-7B; KBs: YARA, GitHub advisories, setup.py</a:t>
            </a:r>
          </a:p>
          <a:p>
            <a:pPr marL="199072" indent="-199072" algn="l">
              <a:spcAft>
                <a:spcPts val="700"/>
              </a:spcAft>
              <a:buClr>
                <a:srgbClr val="BC1C2F"/>
              </a:buClr>
              <a:buSzPts val="1450"/>
              <a:buFont typeface="Arial"/>
              <a:buChar char="•"/>
            </a:pPr>
            <a:r>
              <a:rPr sz="1450" b="0" i="0">
                <a:solidFill>
                  <a:srgbClr val="23272D"/>
                </a:solidFill>
                <a:latin typeface="Calibri"/>
              </a:rPr>
              <a:t>Modes: </a:t>
            </a:r>
            <a:r>
              <a:rPr sz="1450" b="1" i="0">
                <a:solidFill>
                  <a:srgbClr val="23272D"/>
                </a:solidFill>
                <a:latin typeface="Calibri"/>
              </a:rPr>
              <a:t>no_rag, rag, rag_fewshot</a:t>
            </a:r>
          </a:p>
          <a:p>
            <a:pPr marL="199072" indent="-199072" algn="l">
              <a:spcAft>
                <a:spcPts val="700"/>
              </a:spcAft>
              <a:buClr>
                <a:srgbClr val="BC1C2F"/>
              </a:buClr>
              <a:buSzPts val="1450"/>
              <a:buFont typeface="Arial"/>
              <a:buChar char="•"/>
            </a:pPr>
            <a:r>
              <a:rPr sz="1450" b="0" i="0">
                <a:solidFill>
                  <a:srgbClr val="23272D"/>
                </a:solidFill>
                <a:latin typeface="Calibri"/>
              </a:rPr>
              <a:t>Add: hybrid, rerank, cAST chunking, grounding gate</a:t>
            </a:r>
          </a:p>
        </p:txBody>
      </p:sp>
      <p:sp>
        <p:nvSpPr>
          <p:cNvPr id="13" name="Rectangle 12"/>
          <p:cNvSpPr/>
          <p:nvPr/>
        </p:nvSpPr>
        <p:spPr>
          <a:xfrm>
            <a:off x="411480" y="379476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23272D"/>
                </a:solidFill>
                <a:latin typeface="Calibri"/>
              </a:rPr>
              <a:t>Shared:</a:t>
            </a:r>
            <a:r>
              <a:rPr sz="1400" b="0" i="0">
                <a:solidFill>
                  <a:srgbClr val="23272D"/>
                </a:solidFill>
                <a:latin typeface="Calibri"/>
              </a:rPr>
              <a:t> storage abstraction, bge-m3 embeddings, Ollama LLM client, evaluation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System architecture</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Storage, retrieval, LLM and detector can be swapped independently</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11</a:t>
            </a:r>
          </a:p>
        </p:txBody>
      </p:sp>
      <p:sp>
        <p:nvSpPr>
          <p:cNvPr id="5" name="Rectangle 4"/>
          <p:cNvSpPr/>
          <p:nvPr/>
        </p:nvSpPr>
        <p:spPr>
          <a:xfrm>
            <a:off x="411480" y="123444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Data</a:t>
            </a:r>
          </a:p>
          <a:p>
            <a:pPr algn="ctr"/>
            <a:r>
              <a:rPr sz="1050" b="0" i="0">
                <a:solidFill>
                  <a:srgbClr val="23272D"/>
                </a:solidFill>
                <a:latin typeface="Calibri"/>
              </a:rPr>
              <a:t>ingest.py</a:t>
            </a:r>
          </a:p>
        </p:txBody>
      </p:sp>
      <p:cxnSp>
        <p:nvCxnSpPr>
          <p:cNvPr id="6" name="Connector 5"/>
          <p:cNvCxnSpPr/>
          <p:nvPr/>
        </p:nvCxnSpPr>
        <p:spPr>
          <a:xfrm>
            <a:off x="1810512" y="160020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148840" y="1234440"/>
            <a:ext cx="1371600" cy="731520"/>
          </a:xfrm>
          <a:prstGeom prst="rect">
            <a:avLst/>
          </a:prstGeom>
          <a:solidFill>
            <a:srgbClr val="FBEFF0"/>
          </a:solidFill>
          <a:ln w="1905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BC1C2F"/>
                </a:solidFill>
                <a:latin typeface="Calibri"/>
              </a:rPr>
              <a:t>Repository</a:t>
            </a:r>
          </a:p>
          <a:p>
            <a:pPr algn="ctr"/>
            <a:r>
              <a:rPr sz="1050" b="0" i="0">
                <a:solidFill>
                  <a:srgbClr val="23272D"/>
                </a:solidFill>
                <a:latin typeface="Calibri"/>
              </a:rPr>
              <a:t>memory / file / Qdrant</a:t>
            </a:r>
          </a:p>
        </p:txBody>
      </p:sp>
      <p:cxnSp>
        <p:nvCxnSpPr>
          <p:cNvPr id="8" name="Connector 7"/>
          <p:cNvCxnSpPr/>
          <p:nvPr/>
        </p:nvCxnSpPr>
        <p:spPr>
          <a:xfrm>
            <a:off x="3547872" y="160020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886200" y="123444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Retriever</a:t>
            </a:r>
          </a:p>
          <a:p>
            <a:pPr algn="ctr"/>
            <a:r>
              <a:rPr sz="1050" b="0" i="0">
                <a:solidFill>
                  <a:srgbClr val="23272D"/>
                </a:solidFill>
                <a:latin typeface="Calibri"/>
              </a:rPr>
              <a:t>+ bge-m3 embedder</a:t>
            </a:r>
          </a:p>
        </p:txBody>
      </p:sp>
      <p:cxnSp>
        <p:nvCxnSpPr>
          <p:cNvPr id="10" name="Connector 9"/>
          <p:cNvCxnSpPr/>
          <p:nvPr/>
        </p:nvCxnSpPr>
        <p:spPr>
          <a:xfrm>
            <a:off x="5285232" y="160020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59" y="123444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Detector</a:t>
            </a:r>
          </a:p>
          <a:p>
            <a:pPr algn="ctr"/>
            <a:r>
              <a:rPr sz="1050" b="0" i="0">
                <a:solidFill>
                  <a:srgbClr val="23272D"/>
                </a:solidFill>
                <a:latin typeface="Calibri"/>
              </a:rPr>
              <a:t>E2 classifier</a:t>
            </a:r>
          </a:p>
        </p:txBody>
      </p:sp>
      <p:cxnSp>
        <p:nvCxnSpPr>
          <p:cNvPr id="12" name="Connector 11"/>
          <p:cNvCxnSpPr/>
          <p:nvPr/>
        </p:nvCxnSpPr>
        <p:spPr>
          <a:xfrm>
            <a:off x="7022592" y="160020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60919" y="123444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LLM client</a:t>
            </a:r>
          </a:p>
          <a:p>
            <a:pPr algn="ctr"/>
            <a:r>
              <a:rPr sz="1050" b="0" i="0">
                <a:solidFill>
                  <a:srgbClr val="23272D"/>
                </a:solidFill>
                <a:latin typeface="Calibri"/>
              </a:rPr>
              <a:t>Ollama</a:t>
            </a:r>
          </a:p>
        </p:txBody>
      </p:sp>
      <p:sp>
        <p:nvSpPr>
          <p:cNvPr id="14" name="Rectangle 13"/>
          <p:cNvSpPr/>
          <p:nvPr/>
        </p:nvSpPr>
        <p:spPr>
          <a:xfrm>
            <a:off x="411480" y="2240280"/>
            <a:ext cx="2697480" cy="13716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2276856"/>
            <a:ext cx="25146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Swappable storage</a:t>
            </a:r>
          </a:p>
        </p:txBody>
      </p:sp>
      <p:cxnSp>
        <p:nvCxnSpPr>
          <p:cNvPr id="16" name="Connector 15"/>
          <p:cNvCxnSpPr/>
          <p:nvPr/>
        </p:nvCxnSpPr>
        <p:spPr>
          <a:xfrm>
            <a:off x="539496" y="2606040"/>
            <a:ext cx="24414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2697480"/>
            <a:ext cx="2514600" cy="868680"/>
          </a:xfrm>
          <a:prstGeom prst="rect">
            <a:avLst/>
          </a:prstGeom>
          <a:noFill/>
        </p:spPr>
        <p:txBody>
          <a:bodyPr wrap="square" lIns="34275" tIns="20550" rIns="34275" bIns="20550" anchor="t">
            <a:spAutoFit/>
          </a:bodyPr>
          <a:lstStyle/>
          <a:p>
            <a:pPr algn="l">
              <a:spcAft>
                <a:spcPts val="400"/>
              </a:spcAft>
            </a:pPr>
            <a:r>
              <a:rPr sz="1400" b="0" i="0">
                <a:solidFill>
                  <a:srgbClr val="23272D"/>
                </a:solidFill>
                <a:latin typeface="Calibri"/>
              </a:rPr>
              <a:t>Three backends, one interface; tests check identical results</a:t>
            </a:r>
          </a:p>
        </p:txBody>
      </p:sp>
      <p:sp>
        <p:nvSpPr>
          <p:cNvPr id="18" name="Rectangle 17"/>
          <p:cNvSpPr/>
          <p:nvPr/>
        </p:nvSpPr>
        <p:spPr>
          <a:xfrm>
            <a:off x="3264408" y="2240280"/>
            <a:ext cx="2697480" cy="13716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355848" y="2276856"/>
            <a:ext cx="25146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Feature flags</a:t>
            </a:r>
          </a:p>
        </p:txBody>
      </p:sp>
      <p:cxnSp>
        <p:nvCxnSpPr>
          <p:cNvPr id="20" name="Connector 19"/>
          <p:cNvCxnSpPr/>
          <p:nvPr/>
        </p:nvCxnSpPr>
        <p:spPr>
          <a:xfrm>
            <a:off x="3392424" y="2606040"/>
            <a:ext cx="24414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55848" y="2697480"/>
            <a:ext cx="2514600" cy="868680"/>
          </a:xfrm>
          <a:prstGeom prst="rect">
            <a:avLst/>
          </a:prstGeom>
          <a:noFill/>
        </p:spPr>
        <p:txBody>
          <a:bodyPr wrap="square" lIns="34275" tIns="20550" rIns="34275" bIns="20550" anchor="t">
            <a:spAutoFit/>
          </a:bodyPr>
          <a:lstStyle/>
          <a:p>
            <a:pPr algn="l">
              <a:spcAft>
                <a:spcPts val="400"/>
              </a:spcAft>
            </a:pPr>
            <a:r>
              <a:rPr sz="1400" b="0" i="0">
                <a:solidFill>
                  <a:srgbClr val="23272D"/>
                </a:solidFill>
                <a:latin typeface="Calibri"/>
              </a:rPr>
              <a:t>chunking · retrieval · rerank · mode · verify in config.yaml</a:t>
            </a:r>
          </a:p>
        </p:txBody>
      </p:sp>
      <p:sp>
        <p:nvSpPr>
          <p:cNvPr id="22" name="Rectangle 21"/>
          <p:cNvSpPr/>
          <p:nvPr/>
        </p:nvSpPr>
        <p:spPr>
          <a:xfrm>
            <a:off x="6126480" y="2240280"/>
            <a:ext cx="2606040" cy="137160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0" y="2276856"/>
            <a:ext cx="2423160" cy="310896"/>
          </a:xfrm>
          <a:prstGeom prst="rect">
            <a:avLst/>
          </a:prstGeom>
          <a:noFill/>
        </p:spPr>
        <p:txBody>
          <a:bodyPr wrap="square" lIns="34275" tIns="20550" rIns="34275" bIns="20550" anchor="ctr">
            <a:spAutoFit/>
          </a:bodyPr>
          <a:lstStyle/>
          <a:p>
            <a:pPr algn="l"/>
            <a:r>
              <a:rPr sz="1500" b="1" i="0">
                <a:solidFill>
                  <a:srgbClr val="BC1C2F"/>
                </a:solidFill>
                <a:latin typeface="Calibri"/>
              </a:rPr>
              <a:t>E1 has its own path</a:t>
            </a:r>
          </a:p>
        </p:txBody>
      </p:sp>
      <p:cxnSp>
        <p:nvCxnSpPr>
          <p:cNvPr id="24" name="Connector 23"/>
          <p:cNvCxnSpPr/>
          <p:nvPr/>
        </p:nvCxnSpPr>
        <p:spPr>
          <a:xfrm>
            <a:off x="6254496" y="2606040"/>
            <a:ext cx="235000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17920" y="2697480"/>
            <a:ext cx="2423160" cy="868680"/>
          </a:xfrm>
          <a:prstGeom prst="rect">
            <a:avLst/>
          </a:prstGeom>
          <a:noFill/>
        </p:spPr>
        <p:txBody>
          <a:bodyPr wrap="square" lIns="34275" tIns="20550" rIns="34275" bIns="20550" anchor="t">
            <a:spAutoFit/>
          </a:bodyPr>
          <a:lstStyle/>
          <a:p>
            <a:pPr algn="l">
              <a:spcAft>
                <a:spcPts val="400"/>
              </a:spcAft>
            </a:pPr>
            <a:r>
              <a:rPr sz="1400" b="0" i="0">
                <a:solidFill>
                  <a:srgbClr val="23272D"/>
                </a:solidFill>
                <a:latin typeface="Calibri"/>
              </a:rPr>
              <a:t>src/crag: ingest → retrieve → generate → score → report</a:t>
            </a:r>
          </a:p>
        </p:txBody>
      </p:sp>
      <p:sp>
        <p:nvSpPr>
          <p:cNvPr id="26" name="Rectangle 25"/>
          <p:cNvSpPr/>
          <p:nvPr/>
        </p:nvSpPr>
        <p:spPr>
          <a:xfrm>
            <a:off x="411480" y="379476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23272D"/>
                </a:solidFill>
                <a:latin typeface="Calibri"/>
              </a:rPr>
              <a:t>Design goal:</a:t>
            </a:r>
            <a:r>
              <a:rPr sz="1400" b="0" i="0">
                <a:solidFill>
                  <a:srgbClr val="23272D"/>
                </a:solidFill>
                <a:latin typeface="Calibri"/>
              </a:rPr>
              <a:t> change one component, re-run, compare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E1: the CRAG ladder</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Each step changes exactly one thing; the document budget stays at 4,000 tokens</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12</a:t>
            </a:r>
          </a:p>
        </p:txBody>
      </p:sp>
      <p:sp>
        <p:nvSpPr>
          <p:cNvPr id="5" name="Rectangle 4"/>
          <p:cNvSpPr/>
          <p:nvPr/>
        </p:nvSpPr>
        <p:spPr>
          <a:xfrm>
            <a:off x="411480" y="1143000"/>
            <a:ext cx="1965960" cy="9601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88720"/>
            <a:ext cx="1783080" cy="329184"/>
          </a:xfrm>
          <a:prstGeom prst="rect">
            <a:avLst/>
          </a:prstGeom>
          <a:noFill/>
        </p:spPr>
        <p:txBody>
          <a:bodyPr wrap="square" lIns="34275" tIns="20550" rIns="34275" bIns="20550" anchor="t">
            <a:spAutoFit/>
          </a:bodyPr>
          <a:lstStyle/>
          <a:p>
            <a:pPr algn="l"/>
            <a:r>
              <a:rPr sz="1600" b="1" i="0">
                <a:solidFill>
                  <a:srgbClr val="23272D"/>
                </a:solidFill>
                <a:latin typeface="Calibri"/>
              </a:rPr>
              <a:t>B0</a:t>
            </a:r>
          </a:p>
        </p:txBody>
      </p:sp>
      <p:sp>
        <p:nvSpPr>
          <p:cNvPr id="7" name="TextBox 6"/>
          <p:cNvSpPr txBox="1"/>
          <p:nvPr/>
        </p:nvSpPr>
        <p:spPr>
          <a:xfrm>
            <a:off x="502920" y="1527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No documents</a:t>
            </a:r>
          </a:p>
        </p:txBody>
      </p:sp>
      <p:sp>
        <p:nvSpPr>
          <p:cNvPr id="8" name="Rectangle 7"/>
          <p:cNvSpPr/>
          <p:nvPr/>
        </p:nvSpPr>
        <p:spPr>
          <a:xfrm>
            <a:off x="2532888" y="1143000"/>
            <a:ext cx="1965960" cy="9601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624328" y="1188720"/>
            <a:ext cx="1783080" cy="329184"/>
          </a:xfrm>
          <a:prstGeom prst="rect">
            <a:avLst/>
          </a:prstGeom>
          <a:noFill/>
        </p:spPr>
        <p:txBody>
          <a:bodyPr wrap="square" lIns="34275" tIns="20550" rIns="34275" bIns="20550" anchor="t">
            <a:spAutoFit/>
          </a:bodyPr>
          <a:lstStyle/>
          <a:p>
            <a:pPr algn="l"/>
            <a:r>
              <a:rPr sz="1600" b="1" i="0">
                <a:solidFill>
                  <a:srgbClr val="23272D"/>
                </a:solidFill>
                <a:latin typeface="Calibri"/>
              </a:rPr>
              <a:t>B1</a:t>
            </a:r>
          </a:p>
        </p:txBody>
      </p:sp>
      <p:sp>
        <p:nvSpPr>
          <p:cNvPr id="10" name="TextBox 9"/>
          <p:cNvSpPr txBox="1"/>
          <p:nvPr/>
        </p:nvSpPr>
        <p:spPr>
          <a:xfrm>
            <a:off x="2624328" y="1527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Full text, 5 pages</a:t>
            </a:r>
          </a:p>
        </p:txBody>
      </p:sp>
      <p:sp>
        <p:nvSpPr>
          <p:cNvPr id="11" name="Rectangle 10"/>
          <p:cNvSpPr/>
          <p:nvPr/>
        </p:nvSpPr>
        <p:spPr>
          <a:xfrm>
            <a:off x="4654296" y="1143000"/>
            <a:ext cx="1965960" cy="9601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745736" y="1188720"/>
            <a:ext cx="1783080" cy="329184"/>
          </a:xfrm>
          <a:prstGeom prst="rect">
            <a:avLst/>
          </a:prstGeom>
          <a:noFill/>
        </p:spPr>
        <p:txBody>
          <a:bodyPr wrap="square" lIns="34275" tIns="20550" rIns="34275" bIns="20550" anchor="t">
            <a:spAutoFit/>
          </a:bodyPr>
          <a:lstStyle/>
          <a:p>
            <a:pPr algn="l"/>
            <a:r>
              <a:rPr sz="1600" b="1" i="0">
                <a:solidFill>
                  <a:srgbClr val="23272D"/>
                </a:solidFill>
                <a:latin typeface="Calibri"/>
              </a:rPr>
              <a:t>B1.1</a:t>
            </a:r>
          </a:p>
        </p:txBody>
      </p:sp>
      <p:sp>
        <p:nvSpPr>
          <p:cNvPr id="13" name="TextBox 12"/>
          <p:cNvSpPr txBox="1"/>
          <p:nvPr/>
        </p:nvSpPr>
        <p:spPr>
          <a:xfrm>
            <a:off x="4745736" y="1527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Snippets instead of full text</a:t>
            </a:r>
          </a:p>
        </p:txBody>
      </p:sp>
      <p:sp>
        <p:nvSpPr>
          <p:cNvPr id="14" name="Rectangle 13"/>
          <p:cNvSpPr/>
          <p:nvPr/>
        </p:nvSpPr>
        <p:spPr>
          <a:xfrm>
            <a:off x="6775703" y="1143000"/>
            <a:ext cx="1965960" cy="9601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867143" y="1188720"/>
            <a:ext cx="1783080" cy="329184"/>
          </a:xfrm>
          <a:prstGeom prst="rect">
            <a:avLst/>
          </a:prstGeom>
          <a:noFill/>
        </p:spPr>
        <p:txBody>
          <a:bodyPr wrap="square" lIns="34275" tIns="20550" rIns="34275" bIns="20550" anchor="t">
            <a:spAutoFit/>
          </a:bodyPr>
          <a:lstStyle/>
          <a:p>
            <a:pPr algn="l"/>
            <a:r>
              <a:rPr sz="1600" b="1" i="0">
                <a:solidFill>
                  <a:srgbClr val="23272D"/>
                </a:solidFill>
                <a:latin typeface="Calibri"/>
              </a:rPr>
              <a:t>B1.2</a:t>
            </a:r>
          </a:p>
        </p:txBody>
      </p:sp>
      <p:sp>
        <p:nvSpPr>
          <p:cNvPr id="16" name="TextBox 15"/>
          <p:cNvSpPr txBox="1"/>
          <p:nvPr/>
        </p:nvSpPr>
        <p:spPr>
          <a:xfrm>
            <a:off x="6867143" y="1527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50 pages</a:t>
            </a:r>
          </a:p>
        </p:txBody>
      </p:sp>
      <p:sp>
        <p:nvSpPr>
          <p:cNvPr id="17" name="Rectangle 16"/>
          <p:cNvSpPr/>
          <p:nvPr/>
        </p:nvSpPr>
        <p:spPr>
          <a:xfrm>
            <a:off x="411480" y="2286000"/>
            <a:ext cx="1965960" cy="9601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02920" y="2331720"/>
            <a:ext cx="1783080" cy="329184"/>
          </a:xfrm>
          <a:prstGeom prst="rect">
            <a:avLst/>
          </a:prstGeom>
          <a:noFill/>
        </p:spPr>
        <p:txBody>
          <a:bodyPr wrap="square" lIns="34275" tIns="20550" rIns="34275" bIns="20550" anchor="t">
            <a:spAutoFit/>
          </a:bodyPr>
          <a:lstStyle/>
          <a:p>
            <a:pPr algn="l"/>
            <a:r>
              <a:rPr sz="1600" b="1" i="0">
                <a:solidFill>
                  <a:srgbClr val="BC1C2F"/>
                </a:solidFill>
                <a:latin typeface="Calibri"/>
              </a:rPr>
              <a:t>B2</a:t>
            </a:r>
          </a:p>
        </p:txBody>
      </p:sp>
      <p:sp>
        <p:nvSpPr>
          <p:cNvPr id="19" name="TextBox 18"/>
          <p:cNvSpPr txBox="1"/>
          <p:nvPr/>
        </p:nvSpPr>
        <p:spPr>
          <a:xfrm>
            <a:off x="502920" y="2670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BM25 + bge-m3 + RRF chunks</a:t>
            </a:r>
          </a:p>
        </p:txBody>
      </p:sp>
      <p:sp>
        <p:nvSpPr>
          <p:cNvPr id="20" name="Rectangle 19"/>
          <p:cNvSpPr/>
          <p:nvPr/>
        </p:nvSpPr>
        <p:spPr>
          <a:xfrm>
            <a:off x="2532888" y="2286000"/>
            <a:ext cx="1965960" cy="9601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624328" y="2331720"/>
            <a:ext cx="1783080" cy="329184"/>
          </a:xfrm>
          <a:prstGeom prst="rect">
            <a:avLst/>
          </a:prstGeom>
          <a:noFill/>
        </p:spPr>
        <p:txBody>
          <a:bodyPr wrap="square" lIns="34275" tIns="20550" rIns="34275" bIns="20550" anchor="t">
            <a:spAutoFit/>
          </a:bodyPr>
          <a:lstStyle/>
          <a:p>
            <a:pPr algn="l"/>
            <a:r>
              <a:rPr sz="1600" b="1" i="0">
                <a:solidFill>
                  <a:srgbClr val="BC1C2F"/>
                </a:solidFill>
                <a:latin typeface="Calibri"/>
              </a:rPr>
              <a:t>B3</a:t>
            </a:r>
          </a:p>
        </p:txBody>
      </p:sp>
      <p:sp>
        <p:nvSpPr>
          <p:cNvPr id="22" name="TextBox 21"/>
          <p:cNvSpPr txBox="1"/>
          <p:nvPr/>
        </p:nvSpPr>
        <p:spPr>
          <a:xfrm>
            <a:off x="2624328" y="2670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 cross-encoder rerank, threshold 0.05</a:t>
            </a:r>
          </a:p>
        </p:txBody>
      </p:sp>
      <p:sp>
        <p:nvSpPr>
          <p:cNvPr id="23" name="Rectangle 22"/>
          <p:cNvSpPr/>
          <p:nvPr/>
        </p:nvSpPr>
        <p:spPr>
          <a:xfrm>
            <a:off x="4654296" y="2286000"/>
            <a:ext cx="1965960" cy="9601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745736" y="2331720"/>
            <a:ext cx="1783080" cy="329184"/>
          </a:xfrm>
          <a:prstGeom prst="rect">
            <a:avLst/>
          </a:prstGeom>
          <a:noFill/>
        </p:spPr>
        <p:txBody>
          <a:bodyPr wrap="square" lIns="34275" tIns="20550" rIns="34275" bIns="20550" anchor="t">
            <a:spAutoFit/>
          </a:bodyPr>
          <a:lstStyle/>
          <a:p>
            <a:pPr algn="l"/>
            <a:r>
              <a:rPr sz="1600" b="1" i="0">
                <a:solidFill>
                  <a:srgbClr val="BC1C2F"/>
                </a:solidFill>
                <a:latin typeface="Calibri"/>
              </a:rPr>
              <a:t>B4</a:t>
            </a:r>
          </a:p>
        </p:txBody>
      </p:sp>
      <p:sp>
        <p:nvSpPr>
          <p:cNvPr id="25" name="TextBox 24"/>
          <p:cNvSpPr txBox="1"/>
          <p:nvPr/>
        </p:nvSpPr>
        <p:spPr>
          <a:xfrm>
            <a:off x="4745736" y="2670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 citation constraint [n]</a:t>
            </a:r>
          </a:p>
        </p:txBody>
      </p:sp>
      <p:sp>
        <p:nvSpPr>
          <p:cNvPr id="26" name="Rectangle 25"/>
          <p:cNvSpPr/>
          <p:nvPr/>
        </p:nvSpPr>
        <p:spPr>
          <a:xfrm>
            <a:off x="6775703" y="2286000"/>
            <a:ext cx="1965960" cy="9601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867143" y="2331720"/>
            <a:ext cx="1783080" cy="329184"/>
          </a:xfrm>
          <a:prstGeom prst="rect">
            <a:avLst/>
          </a:prstGeom>
          <a:noFill/>
        </p:spPr>
        <p:txBody>
          <a:bodyPr wrap="square" lIns="34275" tIns="20550" rIns="34275" bIns="20550" anchor="t">
            <a:spAutoFit/>
          </a:bodyPr>
          <a:lstStyle/>
          <a:p>
            <a:pPr algn="l"/>
            <a:r>
              <a:rPr sz="1600" b="1" i="0">
                <a:solidFill>
                  <a:srgbClr val="BC1C2F"/>
                </a:solidFill>
                <a:latin typeface="Calibri"/>
              </a:rPr>
              <a:t>B5</a:t>
            </a:r>
          </a:p>
        </p:txBody>
      </p:sp>
      <p:sp>
        <p:nvSpPr>
          <p:cNvPr id="28" name="TextBox 27"/>
          <p:cNvSpPr txBox="1"/>
          <p:nvPr/>
        </p:nvSpPr>
        <p:spPr>
          <a:xfrm>
            <a:off x="6867143" y="2670048"/>
            <a:ext cx="1783080" cy="548640"/>
          </a:xfrm>
          <a:prstGeom prst="rect">
            <a:avLst/>
          </a:prstGeom>
          <a:noFill/>
        </p:spPr>
        <p:txBody>
          <a:bodyPr wrap="square" lIns="34275" tIns="20550" rIns="34275" bIns="20550" anchor="t">
            <a:spAutoFit/>
          </a:bodyPr>
          <a:lstStyle/>
          <a:p>
            <a:pPr algn="l"/>
            <a:r>
              <a:rPr sz="1350" b="0" i="0">
                <a:solidFill>
                  <a:srgbClr val="23272D"/>
                </a:solidFill>
                <a:latin typeface="Calibri"/>
              </a:rPr>
              <a:t>+ refusal gate</a:t>
            </a:r>
          </a:p>
        </p:txBody>
      </p:sp>
      <p:sp>
        <p:nvSpPr>
          <p:cNvPr id="29" name="TextBox 28"/>
          <p:cNvSpPr txBox="1"/>
          <p:nvPr/>
        </p:nvSpPr>
        <p:spPr>
          <a:xfrm>
            <a:off x="411480" y="3456432"/>
            <a:ext cx="8321040" cy="256032"/>
          </a:xfrm>
          <a:prstGeom prst="rect">
            <a:avLst/>
          </a:prstGeom>
          <a:noFill/>
        </p:spPr>
        <p:txBody>
          <a:bodyPr wrap="square" lIns="34275" tIns="20550" rIns="34275" bIns="20550" anchor="t">
            <a:spAutoFit/>
          </a:bodyPr>
          <a:lstStyle/>
          <a:p>
            <a:pPr algn="l"/>
            <a:r>
              <a:rPr sz="1100" b="0" i="0">
                <a:solidFill>
                  <a:srgbClr val="555C64"/>
                </a:solidFill>
                <a:latin typeface="Calibri"/>
              </a:rPr>
              <a:t>Grey: baselines from the benchmark paper and the control.   Pink: components added by the team.</a:t>
            </a:r>
          </a:p>
        </p:txBody>
      </p:sp>
      <p:sp>
        <p:nvSpPr>
          <p:cNvPr id="30" name="Rectangle 29"/>
          <p:cNvSpPr/>
          <p:nvPr/>
        </p:nvSpPr>
        <p:spPr>
          <a:xfrm>
            <a:off x="411480" y="379476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Same generator, same questions, same budget:</a:t>
            </a:r>
            <a:r>
              <a:rPr sz="1350" b="0" i="0">
                <a:solidFill>
                  <a:srgbClr val="23272D"/>
                </a:solidFill>
                <a:latin typeface="Calibri"/>
              </a:rPr>
              <a:t> a difference between steps comes from one component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E1: retrieval and the refusal threshold</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The threshold is calibrated from data, not tuned on the final score</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13</a:t>
            </a:r>
          </a:p>
        </p:txBody>
      </p:sp>
      <p:sp>
        <p:nvSpPr>
          <p:cNvPr id="5" name="Rectangle 4"/>
          <p:cNvSpPr/>
          <p:nvPr/>
        </p:nvSpPr>
        <p:spPr>
          <a:xfrm>
            <a:off x="411480"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Chunk</a:t>
            </a:r>
          </a:p>
          <a:p>
            <a:pPr algn="ctr"/>
            <a:r>
              <a:rPr sz="1050" b="0" i="0">
                <a:solidFill>
                  <a:srgbClr val="23272D"/>
                </a:solidFill>
                <a:latin typeface="Calibri"/>
              </a:rPr>
              <a:t>220 words, overlap 40</a:t>
            </a:r>
          </a:p>
        </p:txBody>
      </p:sp>
      <p:cxnSp>
        <p:nvCxnSpPr>
          <p:cNvPr id="6" name="Connector 5"/>
          <p:cNvCxnSpPr/>
          <p:nvPr/>
        </p:nvCxnSpPr>
        <p:spPr>
          <a:xfrm>
            <a:off x="181051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148840"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BM25 + bge-m3</a:t>
            </a:r>
          </a:p>
          <a:p>
            <a:pPr algn="ctr"/>
            <a:r>
              <a:rPr sz="1050" b="0" i="0">
                <a:solidFill>
                  <a:srgbClr val="23272D"/>
                </a:solidFill>
                <a:latin typeface="Calibri"/>
              </a:rPr>
              <a:t>two rankings</a:t>
            </a:r>
          </a:p>
        </p:txBody>
      </p:sp>
      <p:cxnSp>
        <p:nvCxnSpPr>
          <p:cNvPr id="8" name="Connector 7"/>
          <p:cNvCxnSpPr/>
          <p:nvPr/>
        </p:nvCxnSpPr>
        <p:spPr>
          <a:xfrm>
            <a:off x="354787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886200"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RRF</a:t>
            </a:r>
          </a:p>
          <a:p>
            <a:pPr algn="ctr"/>
            <a:r>
              <a:rPr sz="1050" b="0" i="0">
                <a:solidFill>
                  <a:srgbClr val="23272D"/>
                </a:solidFill>
                <a:latin typeface="Calibri"/>
              </a:rPr>
              <a:t>top 40</a:t>
            </a:r>
          </a:p>
        </p:txBody>
      </p:sp>
      <p:cxnSp>
        <p:nvCxnSpPr>
          <p:cNvPr id="10" name="Connector 9"/>
          <p:cNvCxnSpPr/>
          <p:nvPr/>
        </p:nvCxnSpPr>
        <p:spPr>
          <a:xfrm>
            <a:off x="528523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59"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bge-reranker</a:t>
            </a:r>
          </a:p>
          <a:p>
            <a:pPr algn="ctr"/>
            <a:r>
              <a:rPr sz="1050" b="0" i="0">
                <a:solidFill>
                  <a:srgbClr val="23272D"/>
                </a:solidFill>
                <a:latin typeface="Calibri"/>
              </a:rPr>
              <a:t>score in [0, 1]</a:t>
            </a:r>
          </a:p>
        </p:txBody>
      </p:sp>
      <p:cxnSp>
        <p:nvCxnSpPr>
          <p:cNvPr id="12" name="Connector 11"/>
          <p:cNvCxnSpPr/>
          <p:nvPr/>
        </p:nvCxnSpPr>
        <p:spPr>
          <a:xfrm>
            <a:off x="702259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60919" y="1188720"/>
            <a:ext cx="1371600" cy="731520"/>
          </a:xfrm>
          <a:prstGeom prst="rect">
            <a:avLst/>
          </a:prstGeom>
          <a:solidFill>
            <a:srgbClr val="FBEFF0"/>
          </a:solidFill>
          <a:ln w="1905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BC1C2F"/>
                </a:solidFill>
                <a:latin typeface="Calibri"/>
              </a:rPr>
              <a:t>Threshold</a:t>
            </a:r>
          </a:p>
          <a:p>
            <a:pPr algn="ctr"/>
            <a:r>
              <a:rPr sz="1050" b="0" i="0">
                <a:solidFill>
                  <a:srgbClr val="23272D"/>
                </a:solidFill>
                <a:latin typeface="Calibri"/>
              </a:rPr>
              <a:t>τ = 0.05</a:t>
            </a:r>
          </a:p>
        </p:txBody>
      </p:sp>
      <p:sp>
        <p:nvSpPr>
          <p:cNvPr id="14" name="Rectangle 13"/>
          <p:cNvSpPr/>
          <p:nvPr/>
        </p:nvSpPr>
        <p:spPr>
          <a:xfrm>
            <a:off x="411480" y="2194560"/>
            <a:ext cx="4069080" cy="14173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223113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Why RRF</a:t>
            </a:r>
          </a:p>
        </p:txBody>
      </p:sp>
      <p:cxnSp>
        <p:nvCxnSpPr>
          <p:cNvPr id="16" name="Connector 15"/>
          <p:cNvCxnSpPr/>
          <p:nvPr/>
        </p:nvCxnSpPr>
        <p:spPr>
          <a:xfrm>
            <a:off x="539496" y="2560320"/>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2651760"/>
            <a:ext cx="3886200" cy="914400"/>
          </a:xfrm>
          <a:prstGeom prst="rect">
            <a:avLst/>
          </a:prstGeom>
          <a:noFill/>
        </p:spPr>
        <p:txBody>
          <a:bodyPr wrap="square" lIns="34275" tIns="20550" rIns="34275" bIns="20550" anchor="t">
            <a:spAutoFit/>
          </a:bodyPr>
          <a:lstStyle/>
          <a:p>
            <a:pPr algn="l">
              <a:spcAft>
                <a:spcPts val="400"/>
              </a:spcAft>
            </a:pPr>
            <a:r>
              <a:rPr sz="1250" b="0" i="0">
                <a:solidFill>
                  <a:srgbClr val="23272D"/>
                </a:solidFill>
                <a:latin typeface="Calibri"/>
              </a:rPr>
              <a:t>BM25 scores are unbounded and cosine lies in [−1, 1], so the two rankings are merged by rank, not by score</a:t>
            </a:r>
          </a:p>
        </p:txBody>
      </p:sp>
      <p:sp>
        <p:nvSpPr>
          <p:cNvPr id="18" name="Rectangle 17"/>
          <p:cNvSpPr/>
          <p:nvPr/>
        </p:nvSpPr>
        <p:spPr>
          <a:xfrm>
            <a:off x="4617720" y="2194560"/>
            <a:ext cx="4114800" cy="14173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709159" y="223113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Why τ = 0.05</a:t>
            </a:r>
          </a:p>
        </p:txBody>
      </p:sp>
      <p:cxnSp>
        <p:nvCxnSpPr>
          <p:cNvPr id="20" name="Connector 19"/>
          <p:cNvCxnSpPr/>
          <p:nvPr/>
        </p:nvCxnSpPr>
        <p:spPr>
          <a:xfrm>
            <a:off x="4745736" y="2560320"/>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709159" y="2651760"/>
            <a:ext cx="3931920" cy="914400"/>
          </a:xfrm>
          <a:prstGeom prst="rect">
            <a:avLst/>
          </a:prstGeom>
          <a:noFill/>
        </p:spPr>
        <p:txBody>
          <a:bodyPr wrap="square" lIns="34275" tIns="20550" rIns="34275" bIns="20550" anchor="t">
            <a:spAutoFit/>
          </a:bodyPr>
          <a:lstStyle/>
          <a:p>
            <a:pPr algn="l">
              <a:spcAft>
                <a:spcPts val="400"/>
              </a:spcAft>
            </a:pPr>
            <a:r>
              <a:rPr sz="1250" b="0" i="0">
                <a:solidFill>
                  <a:srgbClr val="23272D"/>
                </a:solidFill>
                <a:latin typeface="Calibri"/>
              </a:rPr>
              <a:t>calibrate.py: how often does the chunk set contain the gold answer, by best rerank score? τ sits where that rate collapses</a:t>
            </a:r>
          </a:p>
        </p:txBody>
      </p:sp>
      <p:sp>
        <p:nvSpPr>
          <p:cNvPr id="22" name="Rectangle 21"/>
          <p:cNvSpPr/>
          <p:nvPr/>
        </p:nvSpPr>
        <p:spPr>
          <a:xfrm>
            <a:off x="411480" y="379476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400" b="1" i="0">
                <a:solidFill>
                  <a:srgbClr val="23272D"/>
                </a:solidFill>
                <a:latin typeface="Calibri"/>
              </a:rPr>
              <a:t>Gate (B5):</a:t>
            </a:r>
            <a:r>
              <a:rPr sz="1400" b="0" i="0">
                <a:solidFill>
                  <a:srgbClr val="23272D"/>
                </a:solidFill>
                <a:latin typeface="Calibri"/>
              </a:rPr>
              <a:t> best score below τ → “I don’t know”, and the LLM is not called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E1: scoring with two graders</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Every result is reported twice, so a grader bias shows up</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14</a:t>
            </a:r>
          </a:p>
        </p:txBody>
      </p:sp>
      <p:sp>
        <p:nvSpPr>
          <p:cNvPr id="5" name="Rectangle 4"/>
          <p:cNvSpPr/>
          <p:nvPr/>
        </p:nvSpPr>
        <p:spPr>
          <a:xfrm>
            <a:off x="411480" y="1143000"/>
            <a:ext cx="4069080" cy="23317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7957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Mode crag (benchmark style)</a:t>
            </a:r>
          </a:p>
        </p:txBody>
      </p:sp>
      <p:cxnSp>
        <p:nvCxnSpPr>
          <p:cNvPr id="7" name="Connector 6"/>
          <p:cNvCxnSpPr/>
          <p:nvPr/>
        </p:nvCxnSpPr>
        <p:spPr>
          <a:xfrm>
            <a:off x="539496" y="1508760"/>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600200"/>
            <a:ext cx="3886200" cy="1828799"/>
          </a:xfrm>
          <a:prstGeom prst="rect">
            <a:avLst/>
          </a:prstGeom>
          <a:noFill/>
        </p:spPr>
        <p:txBody>
          <a:bodyPr wrap="square" lIns="34275" tIns="20550" rIns="34275" bIns="20550" anchor="t">
            <a:spAutoFit/>
          </a:bodyPr>
          <a:lstStyle/>
          <a:p>
            <a:pPr marL="199072" indent="-199072" algn="l">
              <a:spcAft>
                <a:spcPts val="700"/>
              </a:spcAft>
              <a:buClr>
                <a:srgbClr val="BC1C2F"/>
              </a:buClr>
              <a:buSzPts val="1450"/>
              <a:buFont typeface="Arial"/>
              <a:buChar char="•"/>
            </a:pPr>
            <a:r>
              <a:rPr sz="1450" b="0" i="0">
                <a:solidFill>
                  <a:srgbClr val="23272D"/>
                </a:solidFill>
                <a:latin typeface="Calibri"/>
              </a:rPr>
              <a:t>“I don’t know” → </a:t>
            </a:r>
            <a:r>
              <a:rPr sz="1450" b="1" i="0">
                <a:solidFill>
                  <a:srgbClr val="23272D"/>
                </a:solidFill>
                <a:latin typeface="Calibri"/>
              </a:rPr>
              <a:t>missing</a:t>
            </a:r>
          </a:p>
          <a:p>
            <a:pPr marL="199072" indent="-199072" algn="l">
              <a:spcAft>
                <a:spcPts val="700"/>
              </a:spcAft>
              <a:buClr>
                <a:srgbClr val="BC1C2F"/>
              </a:buClr>
              <a:buSzPts val="1450"/>
              <a:buFont typeface="Arial"/>
              <a:buChar char="•"/>
            </a:pPr>
            <a:r>
              <a:rPr sz="1450" b="0" i="0">
                <a:solidFill>
                  <a:srgbClr val="23272D"/>
                </a:solidFill>
                <a:latin typeface="Calibri"/>
              </a:rPr>
              <a:t>Exact match → </a:t>
            </a:r>
            <a:r>
              <a:rPr sz="1450" b="1" i="0">
                <a:solidFill>
                  <a:srgbClr val="23272D"/>
                </a:solidFill>
                <a:latin typeface="Calibri"/>
              </a:rPr>
              <a:t>accurate</a:t>
            </a:r>
          </a:p>
          <a:p>
            <a:pPr marL="199072" indent="-199072" algn="l">
              <a:spcAft>
                <a:spcPts val="700"/>
              </a:spcAft>
              <a:buClr>
                <a:srgbClr val="BC1C2F"/>
              </a:buClr>
              <a:buSzPts val="1450"/>
              <a:buFont typeface="Arial"/>
              <a:buChar char="•"/>
            </a:pPr>
            <a:r>
              <a:rPr sz="1450" b="0" i="0">
                <a:solidFill>
                  <a:srgbClr val="23272D"/>
                </a:solidFill>
                <a:latin typeface="Calibri"/>
              </a:rPr>
              <a:t>Else the judge says True or False</a:t>
            </a:r>
          </a:p>
          <a:p>
            <a:pPr marL="199072" indent="-199072" algn="l">
              <a:spcAft>
                <a:spcPts val="700"/>
              </a:spcAft>
              <a:buClr>
                <a:srgbClr val="BC1C2F"/>
              </a:buClr>
              <a:buSzPts val="1450"/>
              <a:buFont typeface="Arial"/>
              <a:buChar char="•"/>
            </a:pPr>
            <a:r>
              <a:rPr sz="1450" b="0" i="0">
                <a:solidFill>
                  <a:srgbClr val="23272D"/>
                </a:solidFill>
                <a:latin typeface="Calibri"/>
              </a:rPr>
              <a:t>For comparison with the benchmark paper</a:t>
            </a:r>
          </a:p>
        </p:txBody>
      </p:sp>
      <p:sp>
        <p:nvSpPr>
          <p:cNvPr id="9" name="Rectangle 8"/>
          <p:cNvSpPr/>
          <p:nvPr/>
        </p:nvSpPr>
        <p:spPr>
          <a:xfrm>
            <a:off x="4617720" y="1143000"/>
            <a:ext cx="4114800" cy="23317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709159" y="117957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Mode three (control)</a:t>
            </a:r>
          </a:p>
        </p:txBody>
      </p:sp>
      <p:cxnSp>
        <p:nvCxnSpPr>
          <p:cNvPr id="11" name="Connector 10"/>
          <p:cNvCxnSpPr/>
          <p:nvPr/>
        </p:nvCxnSpPr>
        <p:spPr>
          <a:xfrm>
            <a:off x="4745736" y="1508760"/>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09159" y="1600200"/>
            <a:ext cx="3931920" cy="1828799"/>
          </a:xfrm>
          <a:prstGeom prst="rect">
            <a:avLst/>
          </a:prstGeom>
          <a:noFill/>
        </p:spPr>
        <p:txBody>
          <a:bodyPr wrap="square" lIns="34275" tIns="20550" rIns="34275" bIns="20550" anchor="t">
            <a:spAutoFit/>
          </a:bodyPr>
          <a:lstStyle/>
          <a:p>
            <a:pPr marL="199072" indent="-199072" algn="l">
              <a:spcAft>
                <a:spcPts val="700"/>
              </a:spcAft>
              <a:buClr>
                <a:srgbClr val="BC1C2F"/>
              </a:buClr>
              <a:buSzPts val="1450"/>
              <a:buFont typeface="Arial"/>
              <a:buChar char="•"/>
            </a:pPr>
            <a:r>
              <a:rPr sz="1450" b="0" i="0">
                <a:solidFill>
                  <a:srgbClr val="23272D"/>
                </a:solidFill>
                <a:latin typeface="Calibri"/>
              </a:rPr>
              <a:t>Exact match → accurate</a:t>
            </a:r>
          </a:p>
          <a:p>
            <a:pPr marL="199072" indent="-199072" algn="l">
              <a:spcAft>
                <a:spcPts val="700"/>
              </a:spcAft>
              <a:buClr>
                <a:srgbClr val="BC1C2F"/>
              </a:buClr>
              <a:buSzPts val="1450"/>
              <a:buFont typeface="Arial"/>
              <a:buChar char="•"/>
            </a:pPr>
            <a:r>
              <a:rPr sz="1450" b="0" i="0">
                <a:solidFill>
                  <a:srgbClr val="23272D"/>
                </a:solidFill>
                <a:latin typeface="Calibri"/>
              </a:rPr>
              <a:t>Else the judge picks </a:t>
            </a:r>
            <a:r>
              <a:rPr sz="1450" b="1" i="0">
                <a:solidFill>
                  <a:srgbClr val="23272D"/>
                </a:solidFill>
                <a:latin typeface="Calibri"/>
              </a:rPr>
              <a:t>accurate, hallucinated or missing</a:t>
            </a:r>
          </a:p>
          <a:p>
            <a:pPr marL="199072" indent="-199072" algn="l">
              <a:spcAft>
                <a:spcPts val="700"/>
              </a:spcAft>
              <a:buClr>
                <a:srgbClr val="BC1C2F"/>
              </a:buClr>
              <a:buSzPts val="1450"/>
              <a:buFont typeface="Arial"/>
              <a:buChar char="•"/>
            </a:pPr>
            <a:r>
              <a:rPr sz="1450" b="0" i="0">
                <a:solidFill>
                  <a:srgbClr val="23272D"/>
                </a:solidFill>
                <a:latin typeface="Calibri"/>
              </a:rPr>
              <a:t>Broader “missing”: apologies, empty output</a:t>
            </a:r>
          </a:p>
          <a:p>
            <a:pPr marL="199072" indent="-199072" algn="l">
              <a:spcAft>
                <a:spcPts val="700"/>
              </a:spcAft>
              <a:buClr>
                <a:srgbClr val="BC1C2F"/>
              </a:buClr>
              <a:buSzPts val="1450"/>
              <a:buFont typeface="Arial"/>
              <a:buChar char="•"/>
            </a:pPr>
            <a:r>
              <a:rPr sz="1450" b="0" i="0">
                <a:solidFill>
                  <a:srgbClr val="23272D"/>
                </a:solidFill>
                <a:latin typeface="Calibri"/>
              </a:rPr>
              <a:t>A hedged wrong answer is still hallucinated</a:t>
            </a:r>
          </a:p>
        </p:txBody>
      </p:sp>
      <p:sp>
        <p:nvSpPr>
          <p:cNvPr id="13" name="Rectangle 12"/>
          <p:cNvSpPr/>
          <p:nvPr/>
        </p:nvSpPr>
        <p:spPr>
          <a:xfrm>
            <a:off x="411480" y="3657600"/>
            <a:ext cx="8321040" cy="59436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Both:</a:t>
            </a:r>
            <a:r>
              <a:rPr sz="1350" b="0" i="0">
                <a:solidFill>
                  <a:srgbClr val="23272D"/>
                </a:solidFill>
                <a:latin typeface="Calibri"/>
              </a:rPr>
              <a:t> first 75 tokens · SQuAD-style normalisation · judge from a different model family than the generator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E2: malicious PyPI package detector</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The LLM sees the code, and optionally retrieved evidence, and returns a JSON verdict</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15</a:t>
            </a:r>
          </a:p>
        </p:txBody>
      </p:sp>
      <p:sp>
        <p:nvSpPr>
          <p:cNvPr id="5" name="Rectangle 4"/>
          <p:cNvSpPr/>
          <p:nvPr/>
        </p:nvSpPr>
        <p:spPr>
          <a:xfrm>
            <a:off x="411480"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Package code</a:t>
            </a:r>
          </a:p>
          <a:p>
            <a:pPr algn="ctr"/>
            <a:r>
              <a:rPr sz="1000" b="0" i="0">
                <a:solidFill>
                  <a:srgbClr val="23272D"/>
                </a:solidFill>
                <a:latin typeface="Calibri"/>
              </a:rPr>
              <a:t>setup.py</a:t>
            </a:r>
          </a:p>
        </p:txBody>
      </p:sp>
      <p:cxnSp>
        <p:nvCxnSpPr>
          <p:cNvPr id="6" name="Connector 5"/>
          <p:cNvCxnSpPr/>
          <p:nvPr/>
        </p:nvCxnSpPr>
        <p:spPr>
          <a:xfrm>
            <a:off x="181051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148840" y="1188720"/>
            <a:ext cx="1371600" cy="731520"/>
          </a:xfrm>
          <a:prstGeom prst="rect">
            <a:avLst/>
          </a:prstGeom>
          <a:solidFill>
            <a:srgbClr val="FBEFF0"/>
          </a:solidFill>
          <a:ln w="1905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BC1C2F"/>
                </a:solidFill>
                <a:latin typeface="Calibri"/>
              </a:rPr>
              <a:t>Retrieve</a:t>
            </a:r>
          </a:p>
          <a:p>
            <a:pPr algn="ctr"/>
            <a:r>
              <a:rPr sz="1000" b="0" i="0">
                <a:solidFill>
                  <a:srgbClr val="23272D"/>
                </a:solidFill>
                <a:latin typeface="Calibri"/>
              </a:rPr>
              <a:t>YARA · GHSA · setup.py</a:t>
            </a:r>
          </a:p>
        </p:txBody>
      </p:sp>
      <p:cxnSp>
        <p:nvCxnSpPr>
          <p:cNvPr id="8" name="Connector 7"/>
          <p:cNvCxnSpPr/>
          <p:nvPr/>
        </p:nvCxnSpPr>
        <p:spPr>
          <a:xfrm>
            <a:off x="354787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886200"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Prompt</a:t>
            </a:r>
          </a:p>
          <a:p>
            <a:pPr algn="ctr"/>
            <a:r>
              <a:rPr sz="1000" b="0" i="0">
                <a:solidFill>
                  <a:srgbClr val="23272D"/>
                </a:solidFill>
                <a:latin typeface="Calibri"/>
              </a:rPr>
              <a:t>code + evidence</a:t>
            </a:r>
          </a:p>
        </p:txBody>
      </p:sp>
      <p:cxnSp>
        <p:nvCxnSpPr>
          <p:cNvPr id="10" name="Connector 9"/>
          <p:cNvCxnSpPr/>
          <p:nvPr/>
        </p:nvCxnSpPr>
        <p:spPr>
          <a:xfrm>
            <a:off x="528523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623559"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LLM</a:t>
            </a:r>
          </a:p>
          <a:p>
            <a:pPr algn="ctr"/>
            <a:r>
              <a:rPr sz="1000" b="0" i="0">
                <a:solidFill>
                  <a:srgbClr val="23272D"/>
                </a:solidFill>
                <a:latin typeface="Calibri"/>
              </a:rPr>
              <a:t>Qwen2.5-7B</a:t>
            </a:r>
          </a:p>
        </p:txBody>
      </p:sp>
      <p:cxnSp>
        <p:nvCxnSpPr>
          <p:cNvPr id="12" name="Connector 11"/>
          <p:cNvCxnSpPr/>
          <p:nvPr/>
        </p:nvCxnSpPr>
        <p:spPr>
          <a:xfrm>
            <a:off x="7022592" y="1554480"/>
            <a:ext cx="310896" cy="0"/>
          </a:xfrm>
          <a:prstGeom prst="line">
            <a:avLst/>
          </a:prstGeom>
          <a:ln w="19050">
            <a:solidFill>
              <a:srgbClr val="555C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60919" y="1188720"/>
            <a:ext cx="1371600" cy="731520"/>
          </a:xfrm>
          <a:prstGeom prst="rect">
            <a:avLst/>
          </a:prstGeom>
          <a:solidFill>
            <a:srgbClr val="FFFFFF"/>
          </a:solidFill>
          <a:ln w="19050">
            <a:solidFill>
              <a:srgbClr val="C9CED6"/>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250" b="1" i="0">
                <a:solidFill>
                  <a:srgbClr val="23272D"/>
                </a:solidFill>
                <a:latin typeface="Calibri"/>
              </a:rPr>
              <a:t>Verdict</a:t>
            </a:r>
          </a:p>
          <a:p>
            <a:pPr algn="ctr"/>
            <a:r>
              <a:rPr sz="1000" b="0" i="0">
                <a:solidFill>
                  <a:srgbClr val="23272D"/>
                </a:solidFill>
                <a:latin typeface="Calibri"/>
              </a:rPr>
              <a:t>label · reason · lines</a:t>
            </a:r>
          </a:p>
        </p:txBody>
      </p:sp>
      <p:sp>
        <p:nvSpPr>
          <p:cNvPr id="14" name="Rectangle 13"/>
          <p:cNvSpPr/>
          <p:nvPr/>
        </p:nvSpPr>
        <p:spPr>
          <a:xfrm>
            <a:off x="411480" y="2240280"/>
            <a:ext cx="2651760" cy="640080"/>
          </a:xfrm>
          <a:prstGeom prst="rect">
            <a:avLst/>
          </a:prstGeom>
          <a:solidFill>
            <a:srgbClr val="F1F3F5"/>
          </a:solidFill>
          <a:ln w="1905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no_rag</a:t>
            </a:r>
          </a:p>
          <a:p>
            <a:pPr algn="ctr"/>
            <a:r>
              <a:rPr sz="1150" b="0" i="0">
                <a:solidFill>
                  <a:srgbClr val="23272D"/>
                </a:solidFill>
                <a:latin typeface="Calibri"/>
              </a:rPr>
              <a:t>zero-shot baseline</a:t>
            </a:r>
          </a:p>
        </p:txBody>
      </p:sp>
      <p:sp>
        <p:nvSpPr>
          <p:cNvPr id="15" name="Rectangle 14"/>
          <p:cNvSpPr/>
          <p:nvPr/>
        </p:nvSpPr>
        <p:spPr>
          <a:xfrm>
            <a:off x="3246120" y="2240280"/>
            <a:ext cx="2651760" cy="640080"/>
          </a:xfrm>
          <a:prstGeom prst="rect">
            <a:avLst/>
          </a:prstGeom>
          <a:solidFill>
            <a:srgbClr val="F1F3F5"/>
          </a:solidFill>
          <a:ln w="1905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rag</a:t>
            </a:r>
          </a:p>
          <a:p>
            <a:pPr algn="ctr"/>
            <a:r>
              <a:rPr sz="1150" b="0" i="0">
                <a:solidFill>
                  <a:srgbClr val="23272D"/>
                </a:solidFill>
                <a:latin typeface="Calibri"/>
              </a:rPr>
              <a:t>+ top-5 evidence</a:t>
            </a:r>
          </a:p>
        </p:txBody>
      </p:sp>
      <p:sp>
        <p:nvSpPr>
          <p:cNvPr id="16" name="Rectangle 15"/>
          <p:cNvSpPr/>
          <p:nvPr/>
        </p:nvSpPr>
        <p:spPr>
          <a:xfrm>
            <a:off x="6080760" y="2240280"/>
            <a:ext cx="2651760" cy="640080"/>
          </a:xfrm>
          <a:prstGeom prst="rect">
            <a:avLst/>
          </a:prstGeom>
          <a:solidFill>
            <a:srgbClr val="F1F3F5"/>
          </a:solidFill>
          <a:ln w="1905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41125" tIns="45700" rIns="41125" bIns="45700" rtlCol="0" anchor="ctr"/>
          <a:lstStyle/>
          <a:p>
            <a:pPr algn="ctr"/>
            <a:r>
              <a:rPr sz="1300" b="1" i="0">
                <a:solidFill>
                  <a:srgbClr val="23272D"/>
                </a:solidFill>
                <a:latin typeface="Calibri"/>
              </a:rPr>
              <a:t>rag_fewshot</a:t>
            </a:r>
          </a:p>
          <a:p>
            <a:pPr algn="ctr"/>
            <a:r>
              <a:rPr sz="1150" b="0" i="0">
                <a:solidFill>
                  <a:srgbClr val="23272D"/>
                </a:solidFill>
                <a:latin typeface="Calibri"/>
              </a:rPr>
              <a:t>+ 2 labelled examples</a:t>
            </a:r>
          </a:p>
        </p:txBody>
      </p:sp>
      <p:sp>
        <p:nvSpPr>
          <p:cNvPr id="17" name="Rectangle 16"/>
          <p:cNvSpPr/>
          <p:nvPr/>
        </p:nvSpPr>
        <p:spPr>
          <a:xfrm>
            <a:off x="411480" y="3108960"/>
            <a:ext cx="8321040" cy="5029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Caution:</a:t>
            </a:r>
            <a:r>
              <a:rPr sz="1350" b="0" i="0">
                <a:solidFill>
                  <a:srgbClr val="23272D"/>
                </a:solidFill>
                <a:latin typeface="Calibri"/>
              </a:rPr>
              <a:t> build the knowledge base from the </a:t>
            </a:r>
            <a:r>
              <a:rPr sz="1350" b="1" i="0">
                <a:solidFill>
                  <a:srgbClr val="23272D"/>
                </a:solidFill>
                <a:latin typeface="Calibri"/>
              </a:rPr>
              <a:t>train split only</a:t>
            </a:r>
            <a:r>
              <a:rPr sz="1350" b="0" i="0">
                <a:solidFill>
                  <a:srgbClr val="23272D"/>
                </a:solidFill>
                <a:latin typeface="Calibri"/>
              </a:rPr>
              <a:t>, or retrieval can return the sample being judged</a:t>
            </a:r>
          </a:p>
        </p:txBody>
      </p:sp>
      <p:sp>
        <p:nvSpPr>
          <p:cNvPr id="18" name="TextBox 17"/>
          <p:cNvSpPr txBox="1"/>
          <p:nvPr/>
        </p:nvSpPr>
        <p:spPr>
          <a:xfrm>
            <a:off x="411480" y="3749039"/>
            <a:ext cx="8321040" cy="457200"/>
          </a:xfrm>
          <a:prstGeom prst="rect">
            <a:avLst/>
          </a:prstGeom>
          <a:noFill/>
        </p:spPr>
        <p:txBody>
          <a:bodyPr wrap="square" lIns="34275" tIns="20550" rIns="34275" bIns="20550" anchor="t">
            <a:spAutoFit/>
          </a:bodyPr>
          <a:lstStyle/>
          <a:p>
            <a:pPr algn="l"/>
            <a:r>
              <a:rPr sz="1200" b="0" i="0">
                <a:solidFill>
                  <a:srgbClr val="555C64"/>
                </a:solidFill>
                <a:latin typeface="Calibri"/>
              </a:rPr>
              <a:t>Unreadable output → “unknown”, counted as wrong. Evidence snippets are limited to 800 characters.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Method  |  What runs today and what we add</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Implemented in the repository versus planned</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16</a:t>
            </a:r>
          </a:p>
        </p:txBody>
      </p:sp>
      <p:graphicFrame>
        <p:nvGraphicFramePr>
          <p:cNvPr id="5" name="Table 4"/>
          <p:cNvGraphicFramePr>
            <a:graphicFrameLocks noGrp="1"/>
          </p:cNvGraphicFramePr>
          <p:nvPr/>
        </p:nvGraphicFramePr>
        <p:xfrm>
          <a:off x="411480" y="1097280"/>
          <a:ext cx="8321039" cy="2706624"/>
        </p:xfrm>
        <a:graphic>
          <a:graphicData uri="http://schemas.openxmlformats.org/drawingml/2006/table">
            <a:tbl>
              <a:tblPr>
                <a:tableStyleId>{DC0D4065-B25F-4A6F-8AB5-7E187B4C6DDA}</a:tableStyleId>
              </a:tblPr>
              <a:tblGrid>
                <a:gridCol w="5650088">
                  <a:extLst>
                    <a:ext uri="{9D8B030D-6E8A-4147-A177-3AD203B41FA5}">
                      <a16:colId xmlns:a16="http://schemas.microsoft.com/office/drawing/2014/main" val="20000"/>
                    </a:ext>
                  </a:extLst>
                </a:gridCol>
                <a:gridCol w="2670951">
                  <a:extLst>
                    <a:ext uri="{9D8B030D-6E8A-4147-A177-3AD203B41FA5}">
                      <a16:colId xmlns:a16="http://schemas.microsoft.com/office/drawing/2014/main" val="20001"/>
                    </a:ext>
                  </a:extLst>
                </a:gridCol>
              </a:tblGrid>
              <a:tr h="338328">
                <a:tc>
                  <a:txBody>
                    <a:bodyPr/>
                    <a:lstStyle/>
                    <a:p>
                      <a:pPr algn="l"/>
                      <a:r>
                        <a:rPr sz="1300" b="1" i="0">
                          <a:solidFill>
                            <a:srgbClr val="FFFFFF"/>
                          </a:solidFill>
                          <a:latin typeface="Calibri"/>
                        </a:rPr>
                        <a:t>Component</a:t>
                      </a:r>
                    </a:p>
                  </a:txBody>
                  <a:tcPr marL="41150" marR="41150" marT="13725" marB="13725" anchor="ctr">
                    <a:solidFill>
                      <a:srgbClr val="BC1C2F"/>
                    </a:solidFill>
                  </a:tcPr>
                </a:tc>
                <a:tc>
                  <a:txBody>
                    <a:bodyPr/>
                    <a:lstStyle/>
                    <a:p>
                      <a:pPr algn="l"/>
                      <a:r>
                        <a:rPr sz="1300" b="1" i="0">
                          <a:solidFill>
                            <a:srgbClr val="FFFFFF"/>
                          </a:solidFill>
                          <a:latin typeface="Calibri"/>
                        </a:rPr>
                        <a:t>Status</a:t>
                      </a:r>
                    </a:p>
                  </a:txBody>
                  <a:tcPr marL="41150" marR="41150" marT="13725" marB="13725" anchor="ctr">
                    <a:solidFill>
                      <a:srgbClr val="BC1C2F"/>
                    </a:solidFill>
                  </a:tcPr>
                </a:tc>
                <a:extLst>
                  <a:ext uri="{0D108BD9-81ED-4DB2-BD59-A6C34878D82A}">
                    <a16:rowId xmlns:a16="http://schemas.microsoft.com/office/drawing/2014/main" val="10000"/>
                  </a:ext>
                </a:extLst>
              </a:tr>
              <a:tr h="338328">
                <a:tc>
                  <a:txBody>
                    <a:bodyPr/>
                    <a:lstStyle/>
                    <a:p>
                      <a:pPr algn="l"/>
                      <a:r>
                        <a:rPr sz="1250" b="0" i="0">
                          <a:solidFill>
                            <a:srgbClr val="23272D"/>
                          </a:solidFill>
                          <a:latin typeface="Calibri"/>
                        </a:rPr>
                        <a:t>Storage backends, config, unit tests</a:t>
                      </a:r>
                    </a:p>
                  </a:txBody>
                  <a:tcPr marL="41150" marR="41150" marT="13725" marB="13725" anchor="ctr">
                    <a:solidFill>
                      <a:srgbClr val="F1F3F5"/>
                    </a:solidFill>
                  </a:tcPr>
                </a:tc>
                <a:tc>
                  <a:txBody>
                    <a:bodyPr/>
                    <a:lstStyle/>
                    <a:p>
                      <a:pPr algn="l"/>
                      <a:r>
                        <a:rPr sz="1250" b="0" i="0">
                          <a:solidFill>
                            <a:srgbClr val="23272D"/>
                          </a:solidFill>
                          <a:latin typeface="Calibri"/>
                        </a:rPr>
                        <a:t>Implemented</a:t>
                      </a:r>
                    </a:p>
                  </a:txBody>
                  <a:tcPr marL="41150" marR="41150" marT="13725" marB="13725" anchor="ctr">
                    <a:solidFill>
                      <a:srgbClr val="F1F3F5"/>
                    </a:solidFill>
                  </a:tcPr>
                </a:tc>
                <a:extLst>
                  <a:ext uri="{0D108BD9-81ED-4DB2-BD59-A6C34878D82A}">
                    <a16:rowId xmlns:a16="http://schemas.microsoft.com/office/drawing/2014/main" val="10001"/>
                  </a:ext>
                </a:extLst>
              </a:tr>
              <a:tr h="338328">
                <a:tc>
                  <a:txBody>
                    <a:bodyPr/>
                    <a:lstStyle/>
                    <a:p>
                      <a:pPr algn="l"/>
                      <a:r>
                        <a:rPr sz="1250" b="0" i="0">
                          <a:solidFill>
                            <a:srgbClr val="23272D"/>
                          </a:solidFill>
                          <a:latin typeface="Calibri"/>
                        </a:rPr>
                        <a:t>Vector retriever, detector (3 modes)</a:t>
                      </a:r>
                    </a:p>
                  </a:txBody>
                  <a:tcPr marL="41150" marR="41150" marT="13725" marB="13725" anchor="ctr">
                    <a:solidFill>
                      <a:srgbClr val="FFFFFF"/>
                    </a:solidFill>
                  </a:tcPr>
                </a:tc>
                <a:tc>
                  <a:txBody>
                    <a:bodyPr/>
                    <a:lstStyle/>
                    <a:p>
                      <a:pPr algn="l"/>
                      <a:r>
                        <a:rPr sz="1250" b="0" i="0">
                          <a:solidFill>
                            <a:srgbClr val="23272D"/>
                          </a:solidFill>
                          <a:latin typeface="Calibri"/>
                        </a:rPr>
                        <a:t>Implemented</a:t>
                      </a:r>
                    </a:p>
                  </a:txBody>
                  <a:tcPr marL="41150" marR="41150" marT="13725" marB="13725" anchor="ctr">
                    <a:solidFill>
                      <a:srgbClr val="FFFFFF"/>
                    </a:solidFill>
                  </a:tcPr>
                </a:tc>
                <a:extLst>
                  <a:ext uri="{0D108BD9-81ED-4DB2-BD59-A6C34878D82A}">
                    <a16:rowId xmlns:a16="http://schemas.microsoft.com/office/drawing/2014/main" val="10002"/>
                  </a:ext>
                </a:extLst>
              </a:tr>
              <a:tr h="338328">
                <a:tc>
                  <a:txBody>
                    <a:bodyPr/>
                    <a:lstStyle/>
                    <a:p>
                      <a:pPr algn="l"/>
                      <a:r>
                        <a:rPr sz="1250" b="0" i="0">
                          <a:solidFill>
                            <a:srgbClr val="23272D"/>
                          </a:solidFill>
                          <a:latin typeface="Calibri"/>
                        </a:rPr>
                        <a:t>CRAG ladder B0–B5, both scoring modes</a:t>
                      </a:r>
                    </a:p>
                  </a:txBody>
                  <a:tcPr marL="41150" marR="41150" marT="13725" marB="13725" anchor="ctr">
                    <a:solidFill>
                      <a:srgbClr val="F1F3F5"/>
                    </a:solidFill>
                  </a:tcPr>
                </a:tc>
                <a:tc>
                  <a:txBody>
                    <a:bodyPr/>
                    <a:lstStyle/>
                    <a:p>
                      <a:pPr algn="l"/>
                      <a:r>
                        <a:rPr sz="1250" b="0" i="0">
                          <a:solidFill>
                            <a:srgbClr val="23272D"/>
                          </a:solidFill>
                          <a:latin typeface="Calibri"/>
                        </a:rPr>
                        <a:t>Implemented</a:t>
                      </a:r>
                    </a:p>
                  </a:txBody>
                  <a:tcPr marL="41150" marR="41150" marT="13725" marB="13725" anchor="ctr">
                    <a:solidFill>
                      <a:srgbClr val="F1F3F5"/>
                    </a:solidFill>
                  </a:tcPr>
                </a:tc>
                <a:extLst>
                  <a:ext uri="{0D108BD9-81ED-4DB2-BD59-A6C34878D82A}">
                    <a16:rowId xmlns:a16="http://schemas.microsoft.com/office/drawing/2014/main" val="10003"/>
                  </a:ext>
                </a:extLst>
              </a:tr>
              <a:tr h="338328">
                <a:tc>
                  <a:txBody>
                    <a:bodyPr/>
                    <a:lstStyle/>
                    <a:p>
                      <a:pPr algn="l"/>
                      <a:r>
                        <a:rPr sz="1250" b="0" i="0">
                          <a:solidFill>
                            <a:srgbClr val="23272D"/>
                          </a:solidFill>
                          <a:latin typeface="Calibri"/>
                        </a:rPr>
                        <a:t>Hybrid + rerank in the detector</a:t>
                      </a:r>
                    </a:p>
                  </a:txBody>
                  <a:tcPr marL="41150" marR="41150" marT="13725" marB="13725" anchor="ctr">
                    <a:solidFill>
                      <a:srgbClr val="FFFFFF"/>
                    </a:solidFill>
                  </a:tcPr>
                </a:tc>
                <a:tc>
                  <a:txBody>
                    <a:bodyPr/>
                    <a:lstStyle/>
                    <a:p>
                      <a:pPr algn="l"/>
                      <a:r>
                        <a:rPr sz="1250" b="0" i="0">
                          <a:solidFill>
                            <a:srgbClr val="23272D"/>
                          </a:solidFill>
                          <a:latin typeface="Calibri"/>
                        </a:rPr>
                        <a:t>Planned (not wired in)</a:t>
                      </a:r>
                    </a:p>
                  </a:txBody>
                  <a:tcPr marL="41150" marR="41150" marT="13725" marB="13725" anchor="ctr">
                    <a:solidFill>
                      <a:srgbClr val="FFFFFF"/>
                    </a:solidFill>
                  </a:tcPr>
                </a:tc>
                <a:extLst>
                  <a:ext uri="{0D108BD9-81ED-4DB2-BD59-A6C34878D82A}">
                    <a16:rowId xmlns:a16="http://schemas.microsoft.com/office/drawing/2014/main" val="10004"/>
                  </a:ext>
                </a:extLst>
              </a:tr>
              <a:tr h="338328">
                <a:tc>
                  <a:txBody>
                    <a:bodyPr/>
                    <a:lstStyle/>
                    <a:p>
                      <a:pPr algn="l"/>
                      <a:r>
                        <a:rPr sz="1250" b="0" i="0">
                          <a:solidFill>
                            <a:srgbClr val="23272D"/>
                          </a:solidFill>
                          <a:latin typeface="Calibri"/>
                        </a:rPr>
                        <a:t>cAST chunking</a:t>
                      </a:r>
                    </a:p>
                  </a:txBody>
                  <a:tcPr marL="41150" marR="41150" marT="13725" marB="13725" anchor="ctr">
                    <a:solidFill>
                      <a:srgbClr val="F1F3F5"/>
                    </a:solidFill>
                  </a:tcPr>
                </a:tc>
                <a:tc>
                  <a:txBody>
                    <a:bodyPr/>
                    <a:lstStyle/>
                    <a:p>
                      <a:pPr algn="l"/>
                      <a:r>
                        <a:rPr sz="1250" b="0" i="0">
                          <a:solidFill>
                            <a:srgbClr val="23272D"/>
                          </a:solidFill>
                          <a:latin typeface="Calibri"/>
                        </a:rPr>
                        <a:t>Planned (config option)</a:t>
                      </a:r>
                    </a:p>
                  </a:txBody>
                  <a:tcPr marL="41150" marR="41150" marT="13725" marB="13725" anchor="ctr">
                    <a:solidFill>
                      <a:srgbClr val="F1F3F5"/>
                    </a:solidFill>
                  </a:tcPr>
                </a:tc>
                <a:extLst>
                  <a:ext uri="{0D108BD9-81ED-4DB2-BD59-A6C34878D82A}">
                    <a16:rowId xmlns:a16="http://schemas.microsoft.com/office/drawing/2014/main" val="10005"/>
                  </a:ext>
                </a:extLst>
              </a:tr>
              <a:tr h="338328">
                <a:tc>
                  <a:txBody>
                    <a:bodyPr/>
                    <a:lstStyle/>
                    <a:p>
                      <a:pPr algn="l"/>
                      <a:r>
                        <a:rPr sz="1250" b="0" i="0">
                          <a:solidFill>
                            <a:srgbClr val="23272D"/>
                          </a:solidFill>
                          <a:latin typeface="Calibri"/>
                        </a:rPr>
                        <a:t>Grounding gate (verify)</a:t>
                      </a:r>
                    </a:p>
                  </a:txBody>
                  <a:tcPr marL="41150" marR="41150" marT="13725" marB="13725" anchor="ctr">
                    <a:solidFill>
                      <a:srgbClr val="FFFFFF"/>
                    </a:solidFill>
                  </a:tcPr>
                </a:tc>
                <a:tc>
                  <a:txBody>
                    <a:bodyPr/>
                    <a:lstStyle/>
                    <a:p>
                      <a:pPr algn="l"/>
                      <a:r>
                        <a:rPr sz="1250" b="0" i="0">
                          <a:solidFill>
                            <a:srgbClr val="23272D"/>
                          </a:solidFill>
                          <a:latin typeface="Calibri"/>
                        </a:rPr>
                        <a:t>Planned (flag only)</a:t>
                      </a:r>
                    </a:p>
                  </a:txBody>
                  <a:tcPr marL="41150" marR="41150" marT="13725" marB="13725" anchor="ctr">
                    <a:solidFill>
                      <a:srgbClr val="FFFFFF"/>
                    </a:solidFill>
                  </a:tcPr>
                </a:tc>
                <a:extLst>
                  <a:ext uri="{0D108BD9-81ED-4DB2-BD59-A6C34878D82A}">
                    <a16:rowId xmlns:a16="http://schemas.microsoft.com/office/drawing/2014/main" val="10006"/>
                  </a:ext>
                </a:extLst>
              </a:tr>
              <a:tr h="338328">
                <a:tc>
                  <a:txBody>
                    <a:bodyPr/>
                    <a:lstStyle/>
                    <a:p>
                      <a:pPr algn="l"/>
                      <a:r>
                        <a:rPr sz="1250" b="0" i="0">
                          <a:solidFill>
                            <a:srgbClr val="23272D"/>
                          </a:solidFill>
                          <a:latin typeface="Calibri"/>
                        </a:rPr>
                        <a:t>Precision, recall, F1, FNR for E2</a:t>
                      </a:r>
                    </a:p>
                  </a:txBody>
                  <a:tcPr marL="41150" marR="41150" marT="13725" marB="13725" anchor="ctr">
                    <a:solidFill>
                      <a:srgbClr val="F1F3F5"/>
                    </a:solidFill>
                  </a:tcPr>
                </a:tc>
                <a:tc>
                  <a:txBody>
                    <a:bodyPr/>
                    <a:lstStyle/>
                    <a:p>
                      <a:pPr algn="l"/>
                      <a:r>
                        <a:rPr sz="1250" b="0" i="0">
                          <a:solidFill>
                            <a:srgbClr val="23272D"/>
                          </a:solidFill>
                          <a:latin typeface="Calibri"/>
                        </a:rPr>
                        <a:t>To add</a:t>
                      </a:r>
                    </a:p>
                  </a:txBody>
                  <a:tcPr marL="41150" marR="41150" marT="13725" marB="13725" anchor="ctr">
                    <a:solidFill>
                      <a:srgbClr val="F1F3F5"/>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411480" y="3931920"/>
            <a:ext cx="8321040" cy="41148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0" i="0">
                <a:solidFill>
                  <a:srgbClr val="23272D"/>
                </a:solidFill>
                <a:latin typeface="Calibri"/>
              </a:rPr>
              <a:t>Only what is </a:t>
            </a:r>
            <a:r>
              <a:rPr sz="1350" b="1" i="0">
                <a:solidFill>
                  <a:srgbClr val="23272D"/>
                </a:solidFill>
                <a:latin typeface="Calibri"/>
              </a:rPr>
              <a:t>implemented</a:t>
            </a:r>
            <a:r>
              <a:rPr sz="1350" b="0" i="0">
                <a:solidFill>
                  <a:srgbClr val="23272D"/>
                </a:solidFill>
                <a:latin typeface="Calibri"/>
              </a:rPr>
              <a:t> is claimed as method; the rest is marked planned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Setup</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Models, data and metrics of the two studies</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17</a:t>
            </a:r>
          </a:p>
        </p:txBody>
      </p:sp>
      <p:graphicFrame>
        <p:nvGraphicFramePr>
          <p:cNvPr id="5" name="Table 4"/>
          <p:cNvGraphicFramePr>
            <a:graphicFrameLocks noGrp="1"/>
          </p:cNvGraphicFramePr>
          <p:nvPr/>
        </p:nvGraphicFramePr>
        <p:xfrm>
          <a:off x="411480" y="1097280"/>
          <a:ext cx="8321038" cy="3044952"/>
        </p:xfrm>
        <a:graphic>
          <a:graphicData uri="http://schemas.openxmlformats.org/drawingml/2006/table">
            <a:tbl>
              <a:tblPr>
                <a:tableStyleId>{DC0D4065-B25F-4A6F-8AB5-7E187B4C6DDA}</a:tableStyleId>
              </a:tblPr>
              <a:tblGrid>
                <a:gridCol w="1203041">
                  <a:extLst>
                    <a:ext uri="{9D8B030D-6E8A-4147-A177-3AD203B41FA5}">
                      <a16:colId xmlns:a16="http://schemas.microsoft.com/office/drawing/2014/main" val="20000"/>
                    </a:ext>
                  </a:extLst>
                </a:gridCol>
                <a:gridCol w="3508872">
                  <a:extLst>
                    <a:ext uri="{9D8B030D-6E8A-4147-A177-3AD203B41FA5}">
                      <a16:colId xmlns:a16="http://schemas.microsoft.com/office/drawing/2014/main" val="20001"/>
                    </a:ext>
                  </a:extLst>
                </a:gridCol>
                <a:gridCol w="3609125">
                  <a:extLst>
                    <a:ext uri="{9D8B030D-6E8A-4147-A177-3AD203B41FA5}">
                      <a16:colId xmlns:a16="http://schemas.microsoft.com/office/drawing/2014/main" val="20002"/>
                    </a:ext>
                  </a:extLst>
                </a:gridCol>
              </a:tblGrid>
              <a:tr h="338328">
                <a:tc>
                  <a:txBody>
                    <a:bodyPr/>
                    <a:lstStyle/>
                    <a:p>
                      <a:pPr algn="l"/>
                      <a:endParaRPr/>
                    </a:p>
                  </a:txBody>
                  <a:tcPr marL="41150" marR="41150" marT="13725" marB="13725" anchor="ctr">
                    <a:solidFill>
                      <a:srgbClr val="BC1C2F"/>
                    </a:solidFill>
                  </a:tcPr>
                </a:tc>
                <a:tc>
                  <a:txBody>
                    <a:bodyPr/>
                    <a:lstStyle/>
                    <a:p>
                      <a:pPr algn="l"/>
                      <a:r>
                        <a:rPr sz="1250" b="1" i="0">
                          <a:solidFill>
                            <a:srgbClr val="FFFFFF"/>
                          </a:solidFill>
                          <a:latin typeface="Calibri"/>
                        </a:rPr>
                        <a:t>E1: CRAG ladder</a:t>
                      </a:r>
                    </a:p>
                  </a:txBody>
                  <a:tcPr marL="41150" marR="41150" marT="13725" marB="13725" anchor="ctr">
                    <a:solidFill>
                      <a:srgbClr val="BC1C2F"/>
                    </a:solidFill>
                  </a:tcPr>
                </a:tc>
                <a:tc>
                  <a:txBody>
                    <a:bodyPr/>
                    <a:lstStyle/>
                    <a:p>
                      <a:pPr algn="l"/>
                      <a:r>
                        <a:rPr sz="1250" b="1" i="0">
                          <a:solidFill>
                            <a:srgbClr val="FFFFFF"/>
                          </a:solidFill>
                          <a:latin typeface="Calibri"/>
                        </a:rPr>
                        <a:t>E2: PyPI detection</a:t>
                      </a:r>
                    </a:p>
                  </a:txBody>
                  <a:tcPr marL="41150" marR="41150" marT="13725" marB="13725" anchor="ctr">
                    <a:solidFill>
                      <a:srgbClr val="BC1C2F"/>
                    </a:solidFill>
                  </a:tcPr>
                </a:tc>
                <a:extLst>
                  <a:ext uri="{0D108BD9-81ED-4DB2-BD59-A6C34878D82A}">
                    <a16:rowId xmlns:a16="http://schemas.microsoft.com/office/drawing/2014/main" val="10000"/>
                  </a:ext>
                </a:extLst>
              </a:tr>
              <a:tr h="338328">
                <a:tc>
                  <a:txBody>
                    <a:bodyPr/>
                    <a:lstStyle/>
                    <a:p>
                      <a:pPr algn="l"/>
                      <a:r>
                        <a:rPr sz="1200" b="1" i="0">
                          <a:solidFill>
                            <a:srgbClr val="23272D"/>
                          </a:solidFill>
                          <a:latin typeface="Calibri"/>
                        </a:rPr>
                        <a:t>Data</a:t>
                      </a:r>
                    </a:p>
                  </a:txBody>
                  <a:tcPr marL="41150" marR="41150" marT="13725" marB="13725" anchor="ctr">
                    <a:solidFill>
                      <a:srgbClr val="F1F3F5"/>
                    </a:solidFill>
                  </a:tcPr>
                </a:tc>
                <a:tc>
                  <a:txBody>
                    <a:bodyPr/>
                    <a:lstStyle/>
                    <a:p>
                      <a:pPr algn="l"/>
                      <a:r>
                        <a:rPr sz="1200" b="0" i="0">
                          <a:solidFill>
                            <a:srgbClr val="23272D"/>
                          </a:solidFill>
                          <a:latin typeface="Calibri"/>
                        </a:rPr>
                        <a:t>CRAG public test, 1,335 questions</a:t>
                      </a:r>
                    </a:p>
                  </a:txBody>
                  <a:tcPr marL="41150" marR="41150" marT="13725" marB="13725" anchor="ctr">
                    <a:solidFill>
                      <a:srgbClr val="F1F3F5"/>
                    </a:solidFill>
                  </a:tcPr>
                </a:tc>
                <a:tc>
                  <a:txBody>
                    <a:bodyPr/>
                    <a:lstStyle/>
                    <a:p>
                      <a:pPr algn="l"/>
                      <a:r>
                        <a:rPr sz="1200" b="0" i="0">
                          <a:solidFill>
                            <a:srgbClr val="23272D"/>
                          </a:solidFill>
                          <a:latin typeface="Calibri"/>
                        </a:rPr>
                        <a:t>Benign + malicious packages (train/test)</a:t>
                      </a:r>
                    </a:p>
                  </a:txBody>
                  <a:tcPr marL="41150" marR="41150" marT="13725" marB="13725" anchor="ctr">
                    <a:solidFill>
                      <a:srgbClr val="F1F3F5"/>
                    </a:solidFill>
                  </a:tcPr>
                </a:tc>
                <a:extLst>
                  <a:ext uri="{0D108BD9-81ED-4DB2-BD59-A6C34878D82A}">
                    <a16:rowId xmlns:a16="http://schemas.microsoft.com/office/drawing/2014/main" val="10001"/>
                  </a:ext>
                </a:extLst>
              </a:tr>
              <a:tr h="338328">
                <a:tc>
                  <a:txBody>
                    <a:bodyPr/>
                    <a:lstStyle/>
                    <a:p>
                      <a:pPr algn="l"/>
                      <a:r>
                        <a:rPr sz="1200" b="1" i="0">
                          <a:solidFill>
                            <a:srgbClr val="23272D"/>
                          </a:solidFill>
                          <a:latin typeface="Calibri"/>
                        </a:rPr>
                        <a:t>Generator</a:t>
                      </a:r>
                    </a:p>
                  </a:txBody>
                  <a:tcPr marL="41150" marR="41150" marT="13725" marB="13725" anchor="ctr">
                    <a:solidFill>
                      <a:srgbClr val="FFFFFF"/>
                    </a:solidFill>
                  </a:tcPr>
                </a:tc>
                <a:tc>
                  <a:txBody>
                    <a:bodyPr/>
                    <a:lstStyle/>
                    <a:p>
                      <a:pPr algn="l"/>
                      <a:r>
                        <a:rPr sz="1200" b="0" i="0">
                          <a:solidFill>
                            <a:srgbClr val="23272D"/>
                          </a:solidFill>
                          <a:latin typeface="Calibri"/>
                        </a:rPr>
                        <a:t>llama3:8b-instruct-fp16</a:t>
                      </a:r>
                    </a:p>
                  </a:txBody>
                  <a:tcPr marL="41150" marR="41150" marT="13725" marB="13725" anchor="ctr">
                    <a:solidFill>
                      <a:srgbClr val="FFFFFF"/>
                    </a:solidFill>
                  </a:tcPr>
                </a:tc>
                <a:tc>
                  <a:txBody>
                    <a:bodyPr/>
                    <a:lstStyle/>
                    <a:p>
                      <a:pPr algn="l"/>
                      <a:r>
                        <a:rPr sz="1200" b="0" i="0">
                          <a:solidFill>
                            <a:srgbClr val="23272D"/>
                          </a:solidFill>
                          <a:latin typeface="Calibri"/>
                        </a:rPr>
                        <a:t>qwen2.5:7b</a:t>
                      </a:r>
                    </a:p>
                  </a:txBody>
                  <a:tcPr marL="41150" marR="41150" marT="13725" marB="13725" anchor="ctr">
                    <a:solidFill>
                      <a:srgbClr val="FFFFFF"/>
                    </a:solidFill>
                  </a:tcPr>
                </a:tc>
                <a:extLst>
                  <a:ext uri="{0D108BD9-81ED-4DB2-BD59-A6C34878D82A}">
                    <a16:rowId xmlns:a16="http://schemas.microsoft.com/office/drawing/2014/main" val="10002"/>
                  </a:ext>
                </a:extLst>
              </a:tr>
              <a:tr h="338328">
                <a:tc>
                  <a:txBody>
                    <a:bodyPr/>
                    <a:lstStyle/>
                    <a:p>
                      <a:pPr algn="l"/>
                      <a:r>
                        <a:rPr sz="1200" b="1" i="0">
                          <a:solidFill>
                            <a:srgbClr val="23272D"/>
                          </a:solidFill>
                          <a:latin typeface="Calibri"/>
                        </a:rPr>
                        <a:t>Embedding</a:t>
                      </a:r>
                    </a:p>
                  </a:txBody>
                  <a:tcPr marL="41150" marR="41150" marT="13725" marB="13725" anchor="ctr">
                    <a:solidFill>
                      <a:srgbClr val="F1F3F5"/>
                    </a:solidFill>
                  </a:tcPr>
                </a:tc>
                <a:tc>
                  <a:txBody>
                    <a:bodyPr/>
                    <a:lstStyle/>
                    <a:p>
                      <a:pPr algn="l"/>
                      <a:r>
                        <a:rPr sz="1200" b="0" i="0">
                          <a:solidFill>
                            <a:srgbClr val="23272D"/>
                          </a:solidFill>
                          <a:latin typeface="Calibri"/>
                        </a:rPr>
                        <a:t>bge-m3</a:t>
                      </a:r>
                    </a:p>
                  </a:txBody>
                  <a:tcPr marL="41150" marR="41150" marT="13725" marB="13725" anchor="ctr">
                    <a:solidFill>
                      <a:srgbClr val="F1F3F5"/>
                    </a:solidFill>
                  </a:tcPr>
                </a:tc>
                <a:tc>
                  <a:txBody>
                    <a:bodyPr/>
                    <a:lstStyle/>
                    <a:p>
                      <a:pPr algn="l"/>
                      <a:r>
                        <a:rPr sz="1200" b="0" i="0">
                          <a:solidFill>
                            <a:srgbClr val="23272D"/>
                          </a:solidFill>
                          <a:latin typeface="Calibri"/>
                        </a:rPr>
                        <a:t>bge-m3 (Ollama)</a:t>
                      </a:r>
                    </a:p>
                  </a:txBody>
                  <a:tcPr marL="41150" marR="41150" marT="13725" marB="13725" anchor="ctr">
                    <a:solidFill>
                      <a:srgbClr val="F1F3F5"/>
                    </a:solidFill>
                  </a:tcPr>
                </a:tc>
                <a:extLst>
                  <a:ext uri="{0D108BD9-81ED-4DB2-BD59-A6C34878D82A}">
                    <a16:rowId xmlns:a16="http://schemas.microsoft.com/office/drawing/2014/main" val="10003"/>
                  </a:ext>
                </a:extLst>
              </a:tr>
              <a:tr h="338328">
                <a:tc>
                  <a:txBody>
                    <a:bodyPr/>
                    <a:lstStyle/>
                    <a:p>
                      <a:pPr algn="l"/>
                      <a:r>
                        <a:rPr sz="1200" b="1" i="0">
                          <a:solidFill>
                            <a:srgbClr val="23272D"/>
                          </a:solidFill>
                          <a:latin typeface="Calibri"/>
                        </a:rPr>
                        <a:t>Reranker</a:t>
                      </a:r>
                    </a:p>
                  </a:txBody>
                  <a:tcPr marL="41150" marR="41150" marT="13725" marB="13725" anchor="ctr">
                    <a:solidFill>
                      <a:srgbClr val="FFFFFF"/>
                    </a:solidFill>
                  </a:tcPr>
                </a:tc>
                <a:tc>
                  <a:txBody>
                    <a:bodyPr/>
                    <a:lstStyle/>
                    <a:p>
                      <a:pPr algn="l"/>
                      <a:r>
                        <a:rPr sz="1200" b="0" i="0">
                          <a:solidFill>
                            <a:srgbClr val="23272D"/>
                          </a:solidFill>
                          <a:latin typeface="Calibri"/>
                        </a:rPr>
                        <a:t>bge-reranker-v2-m3</a:t>
                      </a:r>
                    </a:p>
                  </a:txBody>
                  <a:tcPr marL="41150" marR="41150" marT="13725" marB="13725" anchor="ctr">
                    <a:solidFill>
                      <a:srgbClr val="FFFFFF"/>
                    </a:solidFill>
                  </a:tcPr>
                </a:tc>
                <a:tc>
                  <a:txBody>
                    <a:bodyPr/>
                    <a:lstStyle/>
                    <a:p>
                      <a:pPr algn="l"/>
                      <a:r>
                        <a:rPr sz="1200" b="0" i="0">
                          <a:solidFill>
                            <a:srgbClr val="23272D"/>
                          </a:solidFill>
                          <a:latin typeface="Calibri"/>
                        </a:rPr>
                        <a:t>planned</a:t>
                      </a:r>
                    </a:p>
                  </a:txBody>
                  <a:tcPr marL="41150" marR="41150" marT="13725" marB="13725" anchor="ctr">
                    <a:solidFill>
                      <a:srgbClr val="FFFFFF"/>
                    </a:solidFill>
                  </a:tcPr>
                </a:tc>
                <a:extLst>
                  <a:ext uri="{0D108BD9-81ED-4DB2-BD59-A6C34878D82A}">
                    <a16:rowId xmlns:a16="http://schemas.microsoft.com/office/drawing/2014/main" val="10004"/>
                  </a:ext>
                </a:extLst>
              </a:tr>
              <a:tr h="338328">
                <a:tc>
                  <a:txBody>
                    <a:bodyPr/>
                    <a:lstStyle/>
                    <a:p>
                      <a:pPr algn="l"/>
                      <a:r>
                        <a:rPr sz="1200" b="1" i="0">
                          <a:solidFill>
                            <a:srgbClr val="23272D"/>
                          </a:solidFill>
                          <a:latin typeface="Calibri"/>
                        </a:rPr>
                        <a:t>Context</a:t>
                      </a:r>
                    </a:p>
                  </a:txBody>
                  <a:tcPr marL="41150" marR="41150" marT="13725" marB="13725" anchor="ctr">
                    <a:solidFill>
                      <a:srgbClr val="F1F3F5"/>
                    </a:solidFill>
                  </a:tcPr>
                </a:tc>
                <a:tc>
                  <a:txBody>
                    <a:bodyPr/>
                    <a:lstStyle/>
                    <a:p>
                      <a:pPr algn="l"/>
                      <a:r>
                        <a:rPr sz="1200" b="0" i="0">
                          <a:solidFill>
                            <a:srgbClr val="23272D"/>
                          </a:solidFill>
                          <a:latin typeface="Calibri"/>
                        </a:rPr>
                        <a:t>4,000 tokens</a:t>
                      </a:r>
                    </a:p>
                  </a:txBody>
                  <a:tcPr marL="41150" marR="41150" marT="13725" marB="13725" anchor="ctr">
                    <a:solidFill>
                      <a:srgbClr val="F1F3F5"/>
                    </a:solidFill>
                  </a:tcPr>
                </a:tc>
                <a:tc>
                  <a:txBody>
                    <a:bodyPr/>
                    <a:lstStyle/>
                    <a:p>
                      <a:pPr algn="l"/>
                      <a:r>
                        <a:rPr sz="1200" b="0" i="0">
                          <a:solidFill>
                            <a:srgbClr val="23272D"/>
                          </a:solidFill>
                          <a:latin typeface="Calibri"/>
                        </a:rPr>
                        <a:t>top-5 evidence, 800 chars each</a:t>
                      </a:r>
                    </a:p>
                  </a:txBody>
                  <a:tcPr marL="41150" marR="41150" marT="13725" marB="13725" anchor="ctr">
                    <a:solidFill>
                      <a:srgbClr val="F1F3F5"/>
                    </a:solidFill>
                  </a:tcPr>
                </a:tc>
                <a:extLst>
                  <a:ext uri="{0D108BD9-81ED-4DB2-BD59-A6C34878D82A}">
                    <a16:rowId xmlns:a16="http://schemas.microsoft.com/office/drawing/2014/main" val="10005"/>
                  </a:ext>
                </a:extLst>
              </a:tr>
              <a:tr h="338328">
                <a:tc>
                  <a:txBody>
                    <a:bodyPr/>
                    <a:lstStyle/>
                    <a:p>
                      <a:pPr algn="l"/>
                      <a:r>
                        <a:rPr sz="1200" b="1" i="0">
                          <a:solidFill>
                            <a:srgbClr val="23272D"/>
                          </a:solidFill>
                          <a:latin typeface="Calibri"/>
                        </a:rPr>
                        <a:t>Judge</a:t>
                      </a:r>
                    </a:p>
                  </a:txBody>
                  <a:tcPr marL="41150" marR="41150" marT="13725" marB="13725" anchor="ctr">
                    <a:solidFill>
                      <a:srgbClr val="FFFFFF"/>
                    </a:solidFill>
                  </a:tcPr>
                </a:tc>
                <a:tc>
                  <a:txBody>
                    <a:bodyPr/>
                    <a:lstStyle/>
                    <a:p>
                      <a:pPr algn="l"/>
                      <a:r>
                        <a:rPr sz="1200" b="0" i="0">
                          <a:solidFill>
                            <a:srgbClr val="23272D"/>
                          </a:solidFill>
                          <a:latin typeface="Calibri"/>
                        </a:rPr>
                        <a:t>other model family (to confirm)</a:t>
                      </a:r>
                    </a:p>
                  </a:txBody>
                  <a:tcPr marL="41150" marR="41150" marT="13725" marB="13725" anchor="ctr">
                    <a:solidFill>
                      <a:srgbClr val="FFFFFF"/>
                    </a:solidFill>
                  </a:tcPr>
                </a:tc>
                <a:tc>
                  <a:txBody>
                    <a:bodyPr/>
                    <a:lstStyle/>
                    <a:p>
                      <a:pPr algn="l"/>
                      <a:r>
                        <a:rPr sz="1200" b="0" i="0">
                          <a:solidFill>
                            <a:srgbClr val="23272D"/>
                          </a:solidFill>
                          <a:latin typeface="Calibri"/>
                        </a:rPr>
                        <a:t>not needed (labels known)</a:t>
                      </a:r>
                    </a:p>
                  </a:txBody>
                  <a:tcPr marL="41150" marR="41150" marT="13725" marB="13725" anchor="ctr">
                    <a:solidFill>
                      <a:srgbClr val="FFFFFF"/>
                    </a:solidFill>
                  </a:tcPr>
                </a:tc>
                <a:extLst>
                  <a:ext uri="{0D108BD9-81ED-4DB2-BD59-A6C34878D82A}">
                    <a16:rowId xmlns:a16="http://schemas.microsoft.com/office/drawing/2014/main" val="10006"/>
                  </a:ext>
                </a:extLst>
              </a:tr>
              <a:tr h="338328">
                <a:tc>
                  <a:txBody>
                    <a:bodyPr/>
                    <a:lstStyle/>
                    <a:p>
                      <a:pPr algn="l"/>
                      <a:r>
                        <a:rPr sz="1200" b="1" i="0">
                          <a:solidFill>
                            <a:srgbClr val="23272D"/>
                          </a:solidFill>
                          <a:latin typeface="Calibri"/>
                        </a:rPr>
                        <a:t>Metrics</a:t>
                      </a:r>
                    </a:p>
                  </a:txBody>
                  <a:tcPr marL="41150" marR="41150" marT="13725" marB="13725" anchor="ctr">
                    <a:solidFill>
                      <a:srgbClr val="F1F3F5"/>
                    </a:solidFill>
                  </a:tcPr>
                </a:tc>
                <a:tc>
                  <a:txBody>
                    <a:bodyPr/>
                    <a:lstStyle/>
                    <a:p>
                      <a:pPr algn="l"/>
                      <a:r>
                        <a:rPr sz="1200" b="0" i="0">
                          <a:solidFill>
                            <a:srgbClr val="23272D"/>
                          </a:solidFill>
                          <a:latin typeface="Calibri"/>
                        </a:rPr>
                        <a:t>Acc, Hal, Miss, truthfulness</a:t>
                      </a:r>
                    </a:p>
                  </a:txBody>
                  <a:tcPr marL="41150" marR="41150" marT="13725" marB="13725" anchor="ctr">
                    <a:solidFill>
                      <a:srgbClr val="F1F3F5"/>
                    </a:solidFill>
                  </a:tcPr>
                </a:tc>
                <a:tc>
                  <a:txBody>
                    <a:bodyPr/>
                    <a:lstStyle/>
                    <a:p>
                      <a:pPr algn="l"/>
                      <a:r>
                        <a:rPr sz="1200" b="0" i="0">
                          <a:solidFill>
                            <a:srgbClr val="23272D"/>
                          </a:solidFill>
                          <a:latin typeface="Calibri"/>
                        </a:rPr>
                        <a:t>Acc, balanced acc; P, R, F1 to add</a:t>
                      </a:r>
                    </a:p>
                  </a:txBody>
                  <a:tcPr marL="41150" marR="41150" marT="13725" marB="13725" anchor="ctr">
                    <a:solidFill>
                      <a:srgbClr val="F1F3F5"/>
                    </a:solidFill>
                  </a:tcPr>
                </a:tc>
                <a:extLst>
                  <a:ext uri="{0D108BD9-81ED-4DB2-BD59-A6C34878D82A}">
                    <a16:rowId xmlns:a16="http://schemas.microsoft.com/office/drawing/2014/main" val="10007"/>
                  </a:ext>
                </a:extLst>
              </a:tr>
              <a:tr h="338328">
                <a:tc>
                  <a:txBody>
                    <a:bodyPr/>
                    <a:lstStyle/>
                    <a:p>
                      <a:pPr algn="l"/>
                      <a:r>
                        <a:rPr sz="1200" b="1" i="0">
                          <a:solidFill>
                            <a:srgbClr val="23272D"/>
                          </a:solidFill>
                          <a:latin typeface="Calibri"/>
                        </a:rPr>
                        <a:t>Hardware</a:t>
                      </a:r>
                    </a:p>
                  </a:txBody>
                  <a:tcPr marL="41150" marR="41150" marT="13725" marB="13725" anchor="ctr">
                    <a:solidFill>
                      <a:srgbClr val="FFFFFF"/>
                    </a:solidFill>
                  </a:tcPr>
                </a:tc>
                <a:tc>
                  <a:txBody>
                    <a:bodyPr/>
                    <a:lstStyle/>
                    <a:p>
                      <a:pPr algn="l"/>
                      <a:r>
                        <a:rPr sz="1200" b="0" i="1">
                          <a:solidFill>
                            <a:srgbClr val="7A828E"/>
                          </a:solidFill>
                          <a:latin typeface="Calibri"/>
                        </a:rPr>
                        <a:t>TBD</a:t>
                      </a:r>
                    </a:p>
                  </a:txBody>
                  <a:tcPr marL="41150" marR="41150" marT="13725" marB="13725" anchor="ctr">
                    <a:solidFill>
                      <a:srgbClr val="FFFFFF"/>
                    </a:solidFill>
                  </a:tcPr>
                </a:tc>
                <a:tc>
                  <a:txBody>
                    <a:bodyPr/>
                    <a:lstStyle/>
                    <a:p>
                      <a:pPr algn="l"/>
                      <a:r>
                        <a:rPr sz="120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E1 results: CRAG ladder</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Results pending: the final runs are not yet recorded</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18</a:t>
            </a:r>
          </a:p>
        </p:txBody>
      </p:sp>
      <p:sp>
        <p:nvSpPr>
          <p:cNvPr id="5" name="TextBox 4"/>
          <p:cNvSpPr txBox="1"/>
          <p:nvPr/>
        </p:nvSpPr>
        <p:spPr>
          <a:xfrm>
            <a:off x="2286000" y="1005840"/>
            <a:ext cx="2743200" cy="256032"/>
          </a:xfrm>
          <a:prstGeom prst="rect">
            <a:avLst/>
          </a:prstGeom>
          <a:noFill/>
        </p:spPr>
        <p:txBody>
          <a:bodyPr wrap="square" lIns="34275" tIns="20550" rIns="34275" bIns="20550" anchor="t">
            <a:spAutoFit/>
          </a:bodyPr>
          <a:lstStyle/>
          <a:p>
            <a:pPr algn="ctr"/>
            <a:r>
              <a:rPr sz="1200" b="1" i="0">
                <a:solidFill>
                  <a:srgbClr val="BC1C2F"/>
                </a:solidFill>
                <a:latin typeface="Calibri"/>
              </a:rPr>
              <a:t>Mode crag</a:t>
            </a:r>
          </a:p>
        </p:txBody>
      </p:sp>
      <p:sp>
        <p:nvSpPr>
          <p:cNvPr id="6" name="TextBox 5"/>
          <p:cNvSpPr txBox="1"/>
          <p:nvPr/>
        </p:nvSpPr>
        <p:spPr>
          <a:xfrm>
            <a:off x="5486400" y="1005840"/>
            <a:ext cx="2743200" cy="256032"/>
          </a:xfrm>
          <a:prstGeom prst="rect">
            <a:avLst/>
          </a:prstGeom>
          <a:noFill/>
        </p:spPr>
        <p:txBody>
          <a:bodyPr wrap="square" lIns="34275" tIns="20550" rIns="34275" bIns="20550" anchor="t">
            <a:spAutoFit/>
          </a:bodyPr>
          <a:lstStyle/>
          <a:p>
            <a:pPr algn="ctr"/>
            <a:r>
              <a:rPr sz="1200" b="1" i="0">
                <a:solidFill>
                  <a:srgbClr val="BC1C2F"/>
                </a:solidFill>
                <a:latin typeface="Calibri"/>
              </a:rPr>
              <a:t>Mode three</a:t>
            </a:r>
          </a:p>
        </p:txBody>
      </p:sp>
      <p:graphicFrame>
        <p:nvGraphicFramePr>
          <p:cNvPr id="7" name="Table 6"/>
          <p:cNvGraphicFramePr>
            <a:graphicFrameLocks noGrp="1"/>
          </p:cNvGraphicFramePr>
          <p:nvPr/>
        </p:nvGraphicFramePr>
        <p:xfrm>
          <a:off x="411480" y="1280160"/>
          <a:ext cx="8321033" cy="2468880"/>
        </p:xfrm>
        <a:graphic>
          <a:graphicData uri="http://schemas.openxmlformats.org/drawingml/2006/table">
            <a:tbl>
              <a:tblPr>
                <a:tableStyleId>{DC0D4065-B25F-4A6F-8AB5-7E187B4C6DDA}</a:tableStyleId>
              </a:tblPr>
              <a:tblGrid>
                <a:gridCol w="1808921">
                  <a:extLst>
                    <a:ext uri="{9D8B030D-6E8A-4147-A177-3AD203B41FA5}">
                      <a16:colId xmlns:a16="http://schemas.microsoft.com/office/drawing/2014/main" val="20000"/>
                    </a:ext>
                  </a:extLst>
                </a:gridCol>
                <a:gridCol w="814014">
                  <a:extLst>
                    <a:ext uri="{9D8B030D-6E8A-4147-A177-3AD203B41FA5}">
                      <a16:colId xmlns:a16="http://schemas.microsoft.com/office/drawing/2014/main" val="20001"/>
                    </a:ext>
                  </a:extLst>
                </a:gridCol>
                <a:gridCol w="814014">
                  <a:extLst>
                    <a:ext uri="{9D8B030D-6E8A-4147-A177-3AD203B41FA5}">
                      <a16:colId xmlns:a16="http://schemas.microsoft.com/office/drawing/2014/main" val="20002"/>
                    </a:ext>
                  </a:extLst>
                </a:gridCol>
                <a:gridCol w="814014">
                  <a:extLst>
                    <a:ext uri="{9D8B030D-6E8A-4147-A177-3AD203B41FA5}">
                      <a16:colId xmlns:a16="http://schemas.microsoft.com/office/drawing/2014/main" val="20003"/>
                    </a:ext>
                  </a:extLst>
                </a:gridCol>
                <a:gridCol w="814014">
                  <a:extLst>
                    <a:ext uri="{9D8B030D-6E8A-4147-A177-3AD203B41FA5}">
                      <a16:colId xmlns:a16="http://schemas.microsoft.com/office/drawing/2014/main" val="20004"/>
                    </a:ext>
                  </a:extLst>
                </a:gridCol>
                <a:gridCol w="814014">
                  <a:extLst>
                    <a:ext uri="{9D8B030D-6E8A-4147-A177-3AD203B41FA5}">
                      <a16:colId xmlns:a16="http://schemas.microsoft.com/office/drawing/2014/main" val="20005"/>
                    </a:ext>
                  </a:extLst>
                </a:gridCol>
                <a:gridCol w="814014">
                  <a:extLst>
                    <a:ext uri="{9D8B030D-6E8A-4147-A177-3AD203B41FA5}">
                      <a16:colId xmlns:a16="http://schemas.microsoft.com/office/drawing/2014/main" val="20006"/>
                    </a:ext>
                  </a:extLst>
                </a:gridCol>
                <a:gridCol w="814014">
                  <a:extLst>
                    <a:ext uri="{9D8B030D-6E8A-4147-A177-3AD203B41FA5}">
                      <a16:colId xmlns:a16="http://schemas.microsoft.com/office/drawing/2014/main" val="20007"/>
                    </a:ext>
                  </a:extLst>
                </a:gridCol>
                <a:gridCol w="814014">
                  <a:extLst>
                    <a:ext uri="{9D8B030D-6E8A-4147-A177-3AD203B41FA5}">
                      <a16:colId xmlns:a16="http://schemas.microsoft.com/office/drawing/2014/main" val="20008"/>
                    </a:ext>
                  </a:extLst>
                </a:gridCol>
              </a:tblGrid>
              <a:tr h="274320">
                <a:tc>
                  <a:txBody>
                    <a:bodyPr/>
                    <a:lstStyle/>
                    <a:p>
                      <a:pPr algn="l"/>
                      <a:r>
                        <a:rPr sz="1200" b="1" i="0">
                          <a:solidFill>
                            <a:srgbClr val="FFFFFF"/>
                          </a:solidFill>
                          <a:latin typeface="Calibri"/>
                        </a:rPr>
                        <a:t>Step</a:t>
                      </a:r>
                    </a:p>
                  </a:txBody>
                  <a:tcPr marL="41150" marR="41150" marT="13725" marB="13725" anchor="ctr">
                    <a:solidFill>
                      <a:srgbClr val="BC1C2F"/>
                    </a:solidFill>
                  </a:tcPr>
                </a:tc>
                <a:tc>
                  <a:txBody>
                    <a:bodyPr/>
                    <a:lstStyle/>
                    <a:p>
                      <a:pPr algn="ctr"/>
                      <a:r>
                        <a:rPr sz="1200" b="1" i="0">
                          <a:solidFill>
                            <a:srgbClr val="FFFFFF"/>
                          </a:solidFill>
                          <a:latin typeface="Calibri"/>
                        </a:rPr>
                        <a:t>Acc</a:t>
                      </a:r>
                    </a:p>
                  </a:txBody>
                  <a:tcPr marL="41150" marR="41150" marT="13725" marB="13725" anchor="ctr">
                    <a:solidFill>
                      <a:srgbClr val="BC1C2F"/>
                    </a:solidFill>
                  </a:tcPr>
                </a:tc>
                <a:tc>
                  <a:txBody>
                    <a:bodyPr/>
                    <a:lstStyle/>
                    <a:p>
                      <a:pPr algn="ctr"/>
                      <a:r>
                        <a:rPr sz="1200" b="1" i="0">
                          <a:solidFill>
                            <a:srgbClr val="FFFFFF"/>
                          </a:solidFill>
                          <a:latin typeface="Calibri"/>
                        </a:rPr>
                        <a:t>Hal</a:t>
                      </a:r>
                    </a:p>
                  </a:txBody>
                  <a:tcPr marL="41150" marR="41150" marT="13725" marB="13725" anchor="ctr">
                    <a:solidFill>
                      <a:srgbClr val="BC1C2F"/>
                    </a:solidFill>
                  </a:tcPr>
                </a:tc>
                <a:tc>
                  <a:txBody>
                    <a:bodyPr/>
                    <a:lstStyle/>
                    <a:p>
                      <a:pPr algn="ctr"/>
                      <a:r>
                        <a:rPr sz="1200" b="1" i="0">
                          <a:solidFill>
                            <a:srgbClr val="FFFFFF"/>
                          </a:solidFill>
                          <a:latin typeface="Calibri"/>
                        </a:rPr>
                        <a:t>Miss</a:t>
                      </a:r>
                    </a:p>
                  </a:txBody>
                  <a:tcPr marL="41150" marR="41150" marT="13725" marB="13725" anchor="ctr">
                    <a:solidFill>
                      <a:srgbClr val="BC1C2F"/>
                    </a:solidFill>
                  </a:tcPr>
                </a:tc>
                <a:tc>
                  <a:txBody>
                    <a:bodyPr/>
                    <a:lstStyle/>
                    <a:p>
                      <a:pPr algn="ctr"/>
                      <a:r>
                        <a:rPr sz="1200" b="1" i="0">
                          <a:solidFill>
                            <a:srgbClr val="FFFFFF"/>
                          </a:solidFill>
                          <a:latin typeface="Calibri"/>
                        </a:rPr>
                        <a:t>T</a:t>
                      </a:r>
                    </a:p>
                  </a:txBody>
                  <a:tcPr marL="41150" marR="41150" marT="13725" marB="13725" anchor="ctr">
                    <a:solidFill>
                      <a:srgbClr val="BC1C2F"/>
                    </a:solidFill>
                  </a:tcPr>
                </a:tc>
                <a:tc>
                  <a:txBody>
                    <a:bodyPr/>
                    <a:lstStyle/>
                    <a:p>
                      <a:pPr algn="ctr"/>
                      <a:r>
                        <a:rPr sz="1200" b="1" i="0">
                          <a:solidFill>
                            <a:srgbClr val="FFFFFF"/>
                          </a:solidFill>
                          <a:latin typeface="Calibri"/>
                        </a:rPr>
                        <a:t>Acc</a:t>
                      </a:r>
                    </a:p>
                  </a:txBody>
                  <a:tcPr marL="41150" marR="41150" marT="13725" marB="13725" anchor="ctr">
                    <a:solidFill>
                      <a:srgbClr val="BC1C2F"/>
                    </a:solidFill>
                  </a:tcPr>
                </a:tc>
                <a:tc>
                  <a:txBody>
                    <a:bodyPr/>
                    <a:lstStyle/>
                    <a:p>
                      <a:pPr algn="ctr"/>
                      <a:r>
                        <a:rPr sz="1200" b="1" i="0">
                          <a:solidFill>
                            <a:srgbClr val="FFFFFF"/>
                          </a:solidFill>
                          <a:latin typeface="Calibri"/>
                        </a:rPr>
                        <a:t>Hal</a:t>
                      </a:r>
                    </a:p>
                  </a:txBody>
                  <a:tcPr marL="41150" marR="41150" marT="13725" marB="13725" anchor="ctr">
                    <a:solidFill>
                      <a:srgbClr val="BC1C2F"/>
                    </a:solidFill>
                  </a:tcPr>
                </a:tc>
                <a:tc>
                  <a:txBody>
                    <a:bodyPr/>
                    <a:lstStyle/>
                    <a:p>
                      <a:pPr algn="ctr"/>
                      <a:r>
                        <a:rPr sz="1200" b="1" i="0">
                          <a:solidFill>
                            <a:srgbClr val="FFFFFF"/>
                          </a:solidFill>
                          <a:latin typeface="Calibri"/>
                        </a:rPr>
                        <a:t>Miss</a:t>
                      </a:r>
                    </a:p>
                  </a:txBody>
                  <a:tcPr marL="41150" marR="41150" marT="13725" marB="13725" anchor="ctr">
                    <a:solidFill>
                      <a:srgbClr val="BC1C2F"/>
                    </a:solidFill>
                  </a:tcPr>
                </a:tc>
                <a:tc>
                  <a:txBody>
                    <a:bodyPr/>
                    <a:lstStyle/>
                    <a:p>
                      <a:pPr algn="ctr"/>
                      <a:r>
                        <a:rPr sz="1200" b="1" i="0">
                          <a:solidFill>
                            <a:srgbClr val="FFFFFF"/>
                          </a:solidFill>
                          <a:latin typeface="Calibri"/>
                        </a:rPr>
                        <a:t>T</a:t>
                      </a:r>
                    </a:p>
                  </a:txBody>
                  <a:tcPr marL="41150" marR="41150" marT="13725" marB="13725" anchor="ctr">
                    <a:solidFill>
                      <a:srgbClr val="BC1C2F"/>
                    </a:solidFill>
                  </a:tcPr>
                </a:tc>
                <a:extLst>
                  <a:ext uri="{0D108BD9-81ED-4DB2-BD59-A6C34878D82A}">
                    <a16:rowId xmlns:a16="http://schemas.microsoft.com/office/drawing/2014/main" val="10000"/>
                  </a:ext>
                </a:extLst>
              </a:tr>
              <a:tr h="274320">
                <a:tc>
                  <a:txBody>
                    <a:bodyPr/>
                    <a:lstStyle/>
                    <a:p>
                      <a:pPr algn="l"/>
                      <a:r>
                        <a:rPr sz="1150" b="1" i="0">
                          <a:solidFill>
                            <a:srgbClr val="23272D"/>
                          </a:solidFill>
                          <a:latin typeface="Calibri"/>
                        </a:rPr>
                        <a:t>B0  no docs</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1"/>
                  </a:ext>
                </a:extLst>
              </a:tr>
              <a:tr h="274320">
                <a:tc>
                  <a:txBody>
                    <a:bodyPr/>
                    <a:lstStyle/>
                    <a:p>
                      <a:pPr algn="l"/>
                      <a:r>
                        <a:rPr sz="1150" b="1" i="0">
                          <a:solidFill>
                            <a:srgbClr val="23272D"/>
                          </a:solidFill>
                          <a:latin typeface="Calibri"/>
                        </a:rPr>
                        <a:t>B1  full text</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2"/>
                  </a:ext>
                </a:extLst>
              </a:tr>
              <a:tr h="274320">
                <a:tc>
                  <a:txBody>
                    <a:bodyPr/>
                    <a:lstStyle/>
                    <a:p>
                      <a:pPr algn="l"/>
                      <a:r>
                        <a:rPr sz="1150" b="1" i="0">
                          <a:solidFill>
                            <a:srgbClr val="23272D"/>
                          </a:solidFill>
                          <a:latin typeface="Calibri"/>
                        </a:rPr>
                        <a:t>B1.1  snippets</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3"/>
                  </a:ext>
                </a:extLst>
              </a:tr>
              <a:tr h="274320">
                <a:tc>
                  <a:txBody>
                    <a:bodyPr/>
                    <a:lstStyle/>
                    <a:p>
                      <a:pPr algn="l"/>
                      <a:r>
                        <a:rPr sz="1150" b="1" i="0">
                          <a:solidFill>
                            <a:srgbClr val="23272D"/>
                          </a:solidFill>
                          <a:latin typeface="Calibri"/>
                        </a:rPr>
                        <a:t>B1.2  50 pages</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4"/>
                  </a:ext>
                </a:extLst>
              </a:tr>
              <a:tr h="274320">
                <a:tc>
                  <a:txBody>
                    <a:bodyPr/>
                    <a:lstStyle/>
                    <a:p>
                      <a:pPr algn="l"/>
                      <a:r>
                        <a:rPr sz="1150" b="1" i="0">
                          <a:solidFill>
                            <a:srgbClr val="23272D"/>
                          </a:solidFill>
                          <a:latin typeface="Calibri"/>
                        </a:rPr>
                        <a:t>B2  RRF chunks</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5"/>
                  </a:ext>
                </a:extLst>
              </a:tr>
              <a:tr h="274320">
                <a:tc>
                  <a:txBody>
                    <a:bodyPr/>
                    <a:lstStyle/>
                    <a:p>
                      <a:pPr algn="l"/>
                      <a:r>
                        <a:rPr sz="1150" b="1" i="0">
                          <a:solidFill>
                            <a:srgbClr val="23272D"/>
                          </a:solidFill>
                          <a:latin typeface="Calibri"/>
                        </a:rPr>
                        <a:t>B3  + rerank</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6"/>
                  </a:ext>
                </a:extLst>
              </a:tr>
              <a:tr h="274320">
                <a:tc>
                  <a:txBody>
                    <a:bodyPr/>
                    <a:lstStyle/>
                    <a:p>
                      <a:pPr algn="l"/>
                      <a:r>
                        <a:rPr sz="1150" b="1" i="0">
                          <a:solidFill>
                            <a:srgbClr val="23272D"/>
                          </a:solidFill>
                          <a:latin typeface="Calibri"/>
                        </a:rPr>
                        <a:t>B4  + citation</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tc>
                  <a:txBody>
                    <a:bodyPr/>
                    <a:lstStyle/>
                    <a:p>
                      <a:pPr algn="ctr"/>
                      <a:r>
                        <a:rPr sz="115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7"/>
                  </a:ext>
                </a:extLst>
              </a:tr>
              <a:tr h="274320">
                <a:tc>
                  <a:txBody>
                    <a:bodyPr/>
                    <a:lstStyle/>
                    <a:p>
                      <a:pPr algn="l"/>
                      <a:r>
                        <a:rPr sz="1150" b="1" i="0">
                          <a:solidFill>
                            <a:srgbClr val="23272D"/>
                          </a:solidFill>
                          <a:latin typeface="Calibri"/>
                        </a:rPr>
                        <a:t>B5  + gate</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tc>
                  <a:txBody>
                    <a:bodyPr/>
                    <a:lstStyle/>
                    <a:p>
                      <a:pPr algn="ctr"/>
                      <a:r>
                        <a:rPr sz="115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411480" y="388620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00" b="0" i="0">
                <a:solidFill>
                  <a:srgbClr val="23272D"/>
                </a:solidFill>
                <a:latin typeface="Calibri"/>
              </a:rPr>
              <a:t>In percent; T = Acc − Hal. Compare with the benchmark paper’s Llama-3-8B row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E2 results: PyPI detection</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Results pending: the reference study is the yardstick</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19</a:t>
            </a:r>
          </a:p>
        </p:txBody>
      </p:sp>
      <p:graphicFrame>
        <p:nvGraphicFramePr>
          <p:cNvPr id="5" name="Table 4"/>
          <p:cNvGraphicFramePr>
            <a:graphicFrameLocks noGrp="1"/>
          </p:cNvGraphicFramePr>
          <p:nvPr/>
        </p:nvGraphicFramePr>
        <p:xfrm>
          <a:off x="411480" y="1097280"/>
          <a:ext cx="8321039" cy="2414016"/>
        </p:xfrm>
        <a:graphic>
          <a:graphicData uri="http://schemas.openxmlformats.org/drawingml/2006/table">
            <a:tbl>
              <a:tblPr>
                <a:tableStyleId>{DC0D4065-B25F-4A6F-8AB5-7E187B4C6DDA}</a:tableStyleId>
              </a:tblPr>
              <a:tblGrid>
                <a:gridCol w="3120389">
                  <a:extLst>
                    <a:ext uri="{9D8B030D-6E8A-4147-A177-3AD203B41FA5}">
                      <a16:colId xmlns:a16="http://schemas.microsoft.com/office/drawing/2014/main" val="20000"/>
                    </a:ext>
                  </a:extLst>
                </a:gridCol>
                <a:gridCol w="1040130">
                  <a:extLst>
                    <a:ext uri="{9D8B030D-6E8A-4147-A177-3AD203B41FA5}">
                      <a16:colId xmlns:a16="http://schemas.microsoft.com/office/drawing/2014/main" val="20001"/>
                    </a:ext>
                  </a:extLst>
                </a:gridCol>
                <a:gridCol w="1040130">
                  <a:extLst>
                    <a:ext uri="{9D8B030D-6E8A-4147-A177-3AD203B41FA5}">
                      <a16:colId xmlns:a16="http://schemas.microsoft.com/office/drawing/2014/main" val="20002"/>
                    </a:ext>
                  </a:extLst>
                </a:gridCol>
                <a:gridCol w="1040130">
                  <a:extLst>
                    <a:ext uri="{9D8B030D-6E8A-4147-A177-3AD203B41FA5}">
                      <a16:colId xmlns:a16="http://schemas.microsoft.com/office/drawing/2014/main" val="20003"/>
                    </a:ext>
                  </a:extLst>
                </a:gridCol>
                <a:gridCol w="1040130">
                  <a:extLst>
                    <a:ext uri="{9D8B030D-6E8A-4147-A177-3AD203B41FA5}">
                      <a16:colId xmlns:a16="http://schemas.microsoft.com/office/drawing/2014/main" val="20004"/>
                    </a:ext>
                  </a:extLst>
                </a:gridCol>
                <a:gridCol w="1040130">
                  <a:extLst>
                    <a:ext uri="{9D8B030D-6E8A-4147-A177-3AD203B41FA5}">
                      <a16:colId xmlns:a16="http://schemas.microsoft.com/office/drawing/2014/main" val="20005"/>
                    </a:ext>
                  </a:extLst>
                </a:gridCol>
              </a:tblGrid>
              <a:tr h="301752">
                <a:tc>
                  <a:txBody>
                    <a:bodyPr/>
                    <a:lstStyle/>
                    <a:p>
                      <a:pPr algn="l"/>
                      <a:r>
                        <a:rPr sz="1250" b="1" i="0">
                          <a:solidFill>
                            <a:srgbClr val="FFFFFF"/>
                          </a:solidFill>
                          <a:latin typeface="Calibri"/>
                        </a:rPr>
                        <a:t>System</a:t>
                      </a:r>
                    </a:p>
                  </a:txBody>
                  <a:tcPr marL="41150" marR="41150" marT="13725" marB="13725" anchor="ctr">
                    <a:solidFill>
                      <a:srgbClr val="BC1C2F"/>
                    </a:solidFill>
                  </a:tcPr>
                </a:tc>
                <a:tc>
                  <a:txBody>
                    <a:bodyPr/>
                    <a:lstStyle/>
                    <a:p>
                      <a:pPr algn="ctr"/>
                      <a:r>
                        <a:rPr sz="1250" b="1" i="0">
                          <a:solidFill>
                            <a:srgbClr val="FFFFFF"/>
                          </a:solidFill>
                          <a:latin typeface="Calibri"/>
                        </a:rPr>
                        <a:t>Acc</a:t>
                      </a:r>
                    </a:p>
                  </a:txBody>
                  <a:tcPr marL="41150" marR="41150" marT="13725" marB="13725" anchor="ctr">
                    <a:solidFill>
                      <a:srgbClr val="BC1C2F"/>
                    </a:solidFill>
                  </a:tcPr>
                </a:tc>
                <a:tc>
                  <a:txBody>
                    <a:bodyPr/>
                    <a:lstStyle/>
                    <a:p>
                      <a:pPr algn="ctr"/>
                      <a:r>
                        <a:rPr sz="1250" b="1" i="0">
                          <a:solidFill>
                            <a:srgbClr val="FFFFFF"/>
                          </a:solidFill>
                          <a:latin typeface="Calibri"/>
                        </a:rPr>
                        <a:t>Bal. acc</a:t>
                      </a:r>
                    </a:p>
                  </a:txBody>
                  <a:tcPr marL="41150" marR="41150" marT="13725" marB="13725" anchor="ctr">
                    <a:solidFill>
                      <a:srgbClr val="BC1C2F"/>
                    </a:solidFill>
                  </a:tcPr>
                </a:tc>
                <a:tc>
                  <a:txBody>
                    <a:bodyPr/>
                    <a:lstStyle/>
                    <a:p>
                      <a:pPr algn="ctr"/>
                      <a:r>
                        <a:rPr sz="1250" b="1" i="0">
                          <a:solidFill>
                            <a:srgbClr val="FFFFFF"/>
                          </a:solidFill>
                          <a:latin typeface="Calibri"/>
                        </a:rPr>
                        <a:t>Prec.</a:t>
                      </a:r>
                    </a:p>
                  </a:txBody>
                  <a:tcPr marL="41150" marR="41150" marT="13725" marB="13725" anchor="ctr">
                    <a:solidFill>
                      <a:srgbClr val="BC1C2F"/>
                    </a:solidFill>
                  </a:tcPr>
                </a:tc>
                <a:tc>
                  <a:txBody>
                    <a:bodyPr/>
                    <a:lstStyle/>
                    <a:p>
                      <a:pPr algn="ctr"/>
                      <a:r>
                        <a:rPr sz="1250" b="1" i="0">
                          <a:solidFill>
                            <a:srgbClr val="FFFFFF"/>
                          </a:solidFill>
                          <a:latin typeface="Calibri"/>
                        </a:rPr>
                        <a:t>Recall</a:t>
                      </a:r>
                    </a:p>
                  </a:txBody>
                  <a:tcPr marL="41150" marR="41150" marT="13725" marB="13725" anchor="ctr">
                    <a:solidFill>
                      <a:srgbClr val="BC1C2F"/>
                    </a:solidFill>
                  </a:tcPr>
                </a:tc>
                <a:tc>
                  <a:txBody>
                    <a:bodyPr/>
                    <a:lstStyle/>
                    <a:p>
                      <a:pPr algn="ctr"/>
                      <a:r>
                        <a:rPr sz="1250" b="1" i="0">
                          <a:solidFill>
                            <a:srgbClr val="FFFFFF"/>
                          </a:solidFill>
                          <a:latin typeface="Calibri"/>
                        </a:rPr>
                        <a:t>F1</a:t>
                      </a:r>
                    </a:p>
                  </a:txBody>
                  <a:tcPr marL="41150" marR="41150" marT="13725" marB="13725" anchor="ctr">
                    <a:solidFill>
                      <a:srgbClr val="BC1C2F"/>
                    </a:solidFill>
                  </a:tcPr>
                </a:tc>
                <a:extLst>
                  <a:ext uri="{0D108BD9-81ED-4DB2-BD59-A6C34878D82A}">
                    <a16:rowId xmlns:a16="http://schemas.microsoft.com/office/drawing/2014/main" val="10000"/>
                  </a:ext>
                </a:extLst>
              </a:tr>
              <a:tr h="301752">
                <a:tc>
                  <a:txBody>
                    <a:bodyPr/>
                    <a:lstStyle/>
                    <a:p>
                      <a:pPr algn="l"/>
                      <a:r>
                        <a:rPr sz="1200" b="0" i="0">
                          <a:solidFill>
                            <a:srgbClr val="23272D"/>
                          </a:solidFill>
                          <a:latin typeface="Calibri"/>
                        </a:rPr>
                        <a:t>no_rag (zero-shot)</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1"/>
                  </a:ext>
                </a:extLst>
              </a:tr>
              <a:tr h="301752">
                <a:tc>
                  <a:txBody>
                    <a:bodyPr/>
                    <a:lstStyle/>
                    <a:p>
                      <a:pPr algn="l"/>
                      <a:r>
                        <a:rPr sz="1200" b="0" i="0">
                          <a:solidFill>
                            <a:srgbClr val="23272D"/>
                          </a:solidFill>
                          <a:latin typeface="Calibri"/>
                        </a:rPr>
                        <a:t>rag (vector, naive chunks)</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2"/>
                  </a:ext>
                </a:extLst>
              </a:tr>
              <a:tr h="301752">
                <a:tc>
                  <a:txBody>
                    <a:bodyPr/>
                    <a:lstStyle/>
                    <a:p>
                      <a:pPr algn="l"/>
                      <a:r>
                        <a:rPr sz="1200" b="0" i="0">
                          <a:solidFill>
                            <a:srgbClr val="23272D"/>
                          </a:solidFill>
                          <a:latin typeface="Calibri"/>
                        </a:rPr>
                        <a:t>rag_fewshot</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3"/>
                  </a:ext>
                </a:extLst>
              </a:tr>
              <a:tr h="301752">
                <a:tc>
                  <a:txBody>
                    <a:bodyPr/>
                    <a:lstStyle/>
                    <a:p>
                      <a:pPr algn="l"/>
                      <a:r>
                        <a:rPr sz="1200" b="0" i="0">
                          <a:solidFill>
                            <a:srgbClr val="23272D"/>
                          </a:solidFill>
                          <a:latin typeface="Calibri"/>
                        </a:rPr>
                        <a:t>+ hybrid retrieval</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4"/>
                  </a:ext>
                </a:extLst>
              </a:tr>
              <a:tr h="301752">
                <a:tc>
                  <a:txBody>
                    <a:bodyPr/>
                    <a:lstStyle/>
                    <a:p>
                      <a:pPr algn="l"/>
                      <a:r>
                        <a:rPr sz="1200" b="0" i="0">
                          <a:solidFill>
                            <a:srgbClr val="23272D"/>
                          </a:solidFill>
                          <a:latin typeface="Calibri"/>
                        </a:rPr>
                        <a:t>+ reranking</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5"/>
                  </a:ext>
                </a:extLst>
              </a:tr>
              <a:tr h="301752">
                <a:tc>
                  <a:txBody>
                    <a:bodyPr/>
                    <a:lstStyle/>
                    <a:p>
                      <a:pPr algn="l"/>
                      <a:r>
                        <a:rPr sz="1200" b="0" i="0">
                          <a:solidFill>
                            <a:srgbClr val="23272D"/>
                          </a:solidFill>
                          <a:latin typeface="Calibri"/>
                        </a:rPr>
                        <a:t>+ cAST chunking</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tc>
                  <a:txBody>
                    <a:bodyPr/>
                    <a:lstStyle/>
                    <a:p>
                      <a:pPr algn="ctr"/>
                      <a:r>
                        <a:rPr sz="1200" b="0" i="1">
                          <a:solidFill>
                            <a:srgbClr val="7A828E"/>
                          </a:solidFill>
                          <a:latin typeface="Calibri"/>
                        </a:rPr>
                        <a:t>TBD</a:t>
                      </a:r>
                    </a:p>
                  </a:txBody>
                  <a:tcPr marL="41150" marR="41150" marT="13725" marB="13725" anchor="ctr">
                    <a:solidFill>
                      <a:srgbClr val="FFFFFF"/>
                    </a:solidFill>
                  </a:tcPr>
                </a:tc>
                <a:extLst>
                  <a:ext uri="{0D108BD9-81ED-4DB2-BD59-A6C34878D82A}">
                    <a16:rowId xmlns:a16="http://schemas.microsoft.com/office/drawing/2014/main" val="10006"/>
                  </a:ext>
                </a:extLst>
              </a:tr>
              <a:tr h="301752">
                <a:tc>
                  <a:txBody>
                    <a:bodyPr/>
                    <a:lstStyle/>
                    <a:p>
                      <a:pPr algn="l"/>
                      <a:r>
                        <a:rPr sz="1200" b="0" i="0">
                          <a:solidFill>
                            <a:srgbClr val="23272D"/>
                          </a:solidFill>
                          <a:latin typeface="Calibri"/>
                        </a:rPr>
                        <a:t>+ grounding gate</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tc>
                  <a:txBody>
                    <a:bodyPr/>
                    <a:lstStyle/>
                    <a:p>
                      <a:pPr algn="ctr"/>
                      <a:r>
                        <a:rPr sz="1200" b="0" i="1">
                          <a:solidFill>
                            <a:srgbClr val="7A828E"/>
                          </a:solidFill>
                          <a:latin typeface="Calibri"/>
                        </a:rPr>
                        <a:t>TBD</a:t>
                      </a:r>
                    </a:p>
                  </a:txBody>
                  <a:tcPr marL="41150" marR="41150" marT="13725" marB="13725" anchor="ctr">
                    <a:solidFill>
                      <a:srgbClr val="F1F3F5"/>
                    </a:solidFill>
                  </a:tcPr>
                </a:tc>
                <a:extLst>
                  <a:ext uri="{0D108BD9-81ED-4DB2-BD59-A6C34878D82A}">
                    <a16:rowId xmlns:a16="http://schemas.microsoft.com/office/drawing/2014/main" val="10007"/>
                  </a:ext>
                </a:extLst>
              </a:tr>
            </a:tbl>
          </a:graphicData>
        </a:graphic>
      </p:graphicFrame>
      <p:sp>
        <p:nvSpPr>
          <p:cNvPr id="6" name="Rectangle 5"/>
          <p:cNvSpPr/>
          <p:nvPr/>
        </p:nvSpPr>
        <p:spPr>
          <a:xfrm>
            <a:off x="411480" y="3657600"/>
            <a:ext cx="8321040" cy="59436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Reference (malicious F1):</a:t>
            </a:r>
            <a:r>
              <a:rPr sz="1350" b="0" i="0">
                <a:solidFill>
                  <a:srgbClr val="23272D"/>
                </a:solidFill>
                <a:latin typeface="Calibri"/>
              </a:rPr>
              <a:t> GPT-4o-mini zero-shot 0.86 · LLaMA-3.1-8B + RAG 0.44–0.52 · fine-tuned above 0.95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Research questions and analyses</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What each result will tell us</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20</a:t>
            </a:r>
          </a:p>
        </p:txBody>
      </p:sp>
      <p:graphicFrame>
        <p:nvGraphicFramePr>
          <p:cNvPr id="5" name="Table 4"/>
          <p:cNvGraphicFramePr>
            <a:graphicFrameLocks noGrp="1"/>
          </p:cNvGraphicFramePr>
          <p:nvPr/>
        </p:nvGraphicFramePr>
        <p:xfrm>
          <a:off x="411480" y="1097280"/>
          <a:ext cx="8321038" cy="2880360"/>
        </p:xfrm>
        <a:graphic>
          <a:graphicData uri="http://schemas.openxmlformats.org/drawingml/2006/table">
            <a:tbl>
              <a:tblPr>
                <a:tableStyleId>{DC0D4065-B25F-4A6F-8AB5-7E187B4C6DDA}</a:tableStyleId>
              </a:tblPr>
              <a:tblGrid>
                <a:gridCol w="601520">
                  <a:extLst>
                    <a:ext uri="{9D8B030D-6E8A-4147-A177-3AD203B41FA5}">
                      <a16:colId xmlns:a16="http://schemas.microsoft.com/office/drawing/2014/main" val="20000"/>
                    </a:ext>
                  </a:extLst>
                </a:gridCol>
                <a:gridCol w="3408618">
                  <a:extLst>
                    <a:ext uri="{9D8B030D-6E8A-4147-A177-3AD203B41FA5}">
                      <a16:colId xmlns:a16="http://schemas.microsoft.com/office/drawing/2014/main" val="20001"/>
                    </a:ext>
                  </a:extLst>
                </a:gridCol>
                <a:gridCol w="4310900">
                  <a:extLst>
                    <a:ext uri="{9D8B030D-6E8A-4147-A177-3AD203B41FA5}">
                      <a16:colId xmlns:a16="http://schemas.microsoft.com/office/drawing/2014/main" val="20002"/>
                    </a:ext>
                  </a:extLst>
                </a:gridCol>
              </a:tblGrid>
              <a:tr h="411480">
                <a:tc>
                  <a:txBody>
                    <a:bodyPr/>
                    <a:lstStyle/>
                    <a:p>
                      <a:pPr algn="l"/>
                      <a:endParaRPr/>
                    </a:p>
                  </a:txBody>
                  <a:tcPr marL="41150" marR="41150" marT="13725" marB="13725" anchor="ctr">
                    <a:solidFill>
                      <a:srgbClr val="BC1C2F"/>
                    </a:solidFill>
                  </a:tcPr>
                </a:tc>
                <a:tc>
                  <a:txBody>
                    <a:bodyPr/>
                    <a:lstStyle/>
                    <a:p>
                      <a:pPr algn="l"/>
                      <a:r>
                        <a:rPr sz="1300" b="1" i="0">
                          <a:solidFill>
                            <a:srgbClr val="FFFFFF"/>
                          </a:solidFill>
                          <a:latin typeface="Calibri"/>
                        </a:rPr>
                        <a:t>Question</a:t>
                      </a:r>
                    </a:p>
                  </a:txBody>
                  <a:tcPr marL="41150" marR="41150" marT="13725" marB="13725" anchor="ctr">
                    <a:solidFill>
                      <a:srgbClr val="BC1C2F"/>
                    </a:solidFill>
                  </a:tcPr>
                </a:tc>
                <a:tc>
                  <a:txBody>
                    <a:bodyPr/>
                    <a:lstStyle/>
                    <a:p>
                      <a:pPr algn="l"/>
                      <a:r>
                        <a:rPr sz="1300" b="1" i="0">
                          <a:solidFill>
                            <a:srgbClr val="FFFFFF"/>
                          </a:solidFill>
                          <a:latin typeface="Calibri"/>
                        </a:rPr>
                        <a:t>Analysis</a:t>
                      </a:r>
                    </a:p>
                  </a:txBody>
                  <a:tcPr marL="41150" marR="41150" marT="13725" marB="13725" anchor="ctr">
                    <a:solidFill>
                      <a:srgbClr val="BC1C2F"/>
                    </a:solidFill>
                  </a:tcPr>
                </a:tc>
                <a:extLst>
                  <a:ext uri="{0D108BD9-81ED-4DB2-BD59-A6C34878D82A}">
                    <a16:rowId xmlns:a16="http://schemas.microsoft.com/office/drawing/2014/main" val="10000"/>
                  </a:ext>
                </a:extLst>
              </a:tr>
              <a:tr h="411480">
                <a:tc>
                  <a:txBody>
                    <a:bodyPr/>
                    <a:lstStyle/>
                    <a:p>
                      <a:pPr algn="l"/>
                      <a:r>
                        <a:rPr sz="1250" b="1" i="0">
                          <a:solidFill>
                            <a:srgbClr val="23272D"/>
                          </a:solidFill>
                          <a:latin typeface="Calibri"/>
                        </a:rPr>
                        <a:t>RQ1</a:t>
                      </a:r>
                    </a:p>
                  </a:txBody>
                  <a:tcPr marL="41150" marR="41150" marT="13725" marB="13725" anchor="ctr">
                    <a:solidFill>
                      <a:srgbClr val="F1F3F5"/>
                    </a:solidFill>
                  </a:tcPr>
                </a:tc>
                <a:tc>
                  <a:txBody>
                    <a:bodyPr/>
                    <a:lstStyle/>
                    <a:p>
                      <a:pPr algn="l"/>
                      <a:r>
                        <a:rPr sz="1250" b="0" i="0">
                          <a:solidFill>
                            <a:srgbClr val="23272D"/>
                          </a:solidFill>
                          <a:latin typeface="Calibri"/>
                        </a:rPr>
                        <a:t>Do documents reduce hallucination?</a:t>
                      </a:r>
                    </a:p>
                  </a:txBody>
                  <a:tcPr marL="41150" marR="41150" marT="13725" marB="13725" anchor="ctr">
                    <a:solidFill>
                      <a:srgbClr val="F1F3F5"/>
                    </a:solidFill>
                  </a:tcPr>
                </a:tc>
                <a:tc>
                  <a:txBody>
                    <a:bodyPr/>
                    <a:lstStyle/>
                    <a:p>
                      <a:pPr algn="l"/>
                      <a:r>
                        <a:rPr sz="1250" b="0" i="0">
                          <a:solidFill>
                            <a:srgbClr val="23272D"/>
                          </a:solidFill>
                          <a:latin typeface="Calibri"/>
                        </a:rPr>
                        <a:t>B0 vs. B1 and B1.1</a:t>
                      </a:r>
                    </a:p>
                  </a:txBody>
                  <a:tcPr marL="41150" marR="41150" marT="13725" marB="13725" anchor="ctr">
                    <a:solidFill>
                      <a:srgbClr val="F1F3F5"/>
                    </a:solidFill>
                  </a:tcPr>
                </a:tc>
                <a:extLst>
                  <a:ext uri="{0D108BD9-81ED-4DB2-BD59-A6C34878D82A}">
                    <a16:rowId xmlns:a16="http://schemas.microsoft.com/office/drawing/2014/main" val="10001"/>
                  </a:ext>
                </a:extLst>
              </a:tr>
              <a:tr h="411480">
                <a:tc>
                  <a:txBody>
                    <a:bodyPr/>
                    <a:lstStyle/>
                    <a:p>
                      <a:pPr algn="l"/>
                      <a:r>
                        <a:rPr sz="1250" b="1" i="0">
                          <a:solidFill>
                            <a:srgbClr val="23272D"/>
                          </a:solidFill>
                          <a:latin typeface="Calibri"/>
                        </a:rPr>
                        <a:t>RQ2</a:t>
                      </a:r>
                    </a:p>
                  </a:txBody>
                  <a:tcPr marL="41150" marR="41150" marT="13725" marB="13725" anchor="ctr">
                    <a:solidFill>
                      <a:srgbClr val="FFFFFF"/>
                    </a:solidFill>
                  </a:tcPr>
                </a:tc>
                <a:tc>
                  <a:txBody>
                    <a:bodyPr/>
                    <a:lstStyle/>
                    <a:p>
                      <a:pPr algn="l"/>
                      <a:r>
                        <a:rPr sz="1250" b="0" i="0">
                          <a:solidFill>
                            <a:srgbClr val="23272D"/>
                          </a:solidFill>
                          <a:latin typeface="Calibri"/>
                        </a:rPr>
                        <a:t>Which component helps?</a:t>
                      </a:r>
                    </a:p>
                  </a:txBody>
                  <a:tcPr marL="41150" marR="41150" marT="13725" marB="13725" anchor="ctr">
                    <a:solidFill>
                      <a:srgbClr val="FFFFFF"/>
                    </a:solidFill>
                  </a:tcPr>
                </a:tc>
                <a:tc>
                  <a:txBody>
                    <a:bodyPr/>
                    <a:lstStyle/>
                    <a:p>
                      <a:pPr algn="l"/>
                      <a:r>
                        <a:rPr sz="1250" b="0" i="0">
                          <a:solidFill>
                            <a:srgbClr val="23272D"/>
                          </a:solidFill>
                          <a:latin typeface="Calibri"/>
                        </a:rPr>
                        <a:t>Differences between consecutive steps</a:t>
                      </a:r>
                    </a:p>
                  </a:txBody>
                  <a:tcPr marL="41150" marR="41150" marT="13725" marB="13725" anchor="ctr">
                    <a:solidFill>
                      <a:srgbClr val="FFFFFF"/>
                    </a:solidFill>
                  </a:tcPr>
                </a:tc>
                <a:extLst>
                  <a:ext uri="{0D108BD9-81ED-4DB2-BD59-A6C34878D82A}">
                    <a16:rowId xmlns:a16="http://schemas.microsoft.com/office/drawing/2014/main" val="10002"/>
                  </a:ext>
                </a:extLst>
              </a:tr>
              <a:tr h="411480">
                <a:tc>
                  <a:txBody>
                    <a:bodyPr/>
                    <a:lstStyle/>
                    <a:p>
                      <a:pPr algn="l"/>
                      <a:r>
                        <a:rPr sz="1250" b="1" i="0">
                          <a:solidFill>
                            <a:srgbClr val="23272D"/>
                          </a:solidFill>
                          <a:latin typeface="Calibri"/>
                        </a:rPr>
                        <a:t>RQ3</a:t>
                      </a:r>
                    </a:p>
                  </a:txBody>
                  <a:tcPr marL="41150" marR="41150" marT="13725" marB="13725" anchor="ctr">
                    <a:solidFill>
                      <a:srgbClr val="F1F3F5"/>
                    </a:solidFill>
                  </a:tcPr>
                </a:tc>
                <a:tc>
                  <a:txBody>
                    <a:bodyPr/>
                    <a:lstStyle/>
                    <a:p>
                      <a:pPr algn="l"/>
                      <a:r>
                        <a:rPr sz="1250" b="0" i="0">
                          <a:solidFill>
                            <a:srgbClr val="23272D"/>
                          </a:solidFill>
                          <a:latin typeface="Calibri"/>
                        </a:rPr>
                        <a:t>What does it cost?</a:t>
                      </a:r>
                    </a:p>
                  </a:txBody>
                  <a:tcPr marL="41150" marR="41150" marT="13725" marB="13725" anchor="ctr">
                    <a:solidFill>
                      <a:srgbClr val="F1F3F5"/>
                    </a:solidFill>
                  </a:tcPr>
                </a:tc>
                <a:tc>
                  <a:txBody>
                    <a:bodyPr/>
                    <a:lstStyle/>
                    <a:p>
                      <a:pPr algn="l"/>
                      <a:r>
                        <a:rPr sz="1250" b="0" i="0">
                          <a:solidFill>
                            <a:srgbClr val="23272D"/>
                          </a:solidFill>
                          <a:latin typeface="Calibri"/>
                        </a:rPr>
                        <a:t>Missing share; refusals that removed a hallucination</a:t>
                      </a:r>
                    </a:p>
                  </a:txBody>
                  <a:tcPr marL="41150" marR="41150" marT="13725" marB="13725" anchor="ctr">
                    <a:solidFill>
                      <a:srgbClr val="F1F3F5"/>
                    </a:solidFill>
                  </a:tcPr>
                </a:tc>
                <a:extLst>
                  <a:ext uri="{0D108BD9-81ED-4DB2-BD59-A6C34878D82A}">
                    <a16:rowId xmlns:a16="http://schemas.microsoft.com/office/drawing/2014/main" val="10003"/>
                  </a:ext>
                </a:extLst>
              </a:tr>
              <a:tr h="411480">
                <a:tc>
                  <a:txBody>
                    <a:bodyPr/>
                    <a:lstStyle/>
                    <a:p>
                      <a:pPr algn="l"/>
                      <a:r>
                        <a:rPr sz="1250" b="1" i="0">
                          <a:solidFill>
                            <a:srgbClr val="23272D"/>
                          </a:solidFill>
                          <a:latin typeface="Calibri"/>
                        </a:rPr>
                        <a:t>RQ4</a:t>
                      </a:r>
                    </a:p>
                  </a:txBody>
                  <a:tcPr marL="41150" marR="41150" marT="13725" marB="13725" anchor="ctr">
                    <a:solidFill>
                      <a:srgbClr val="FFFFFF"/>
                    </a:solidFill>
                  </a:tcPr>
                </a:tc>
                <a:tc>
                  <a:txBody>
                    <a:bodyPr/>
                    <a:lstStyle/>
                    <a:p>
                      <a:pPr algn="l"/>
                      <a:r>
                        <a:rPr sz="1250" b="0" i="0">
                          <a:solidFill>
                            <a:srgbClr val="23272D"/>
                          </a:solidFill>
                          <a:latin typeface="Calibri"/>
                        </a:rPr>
                        <a:t>Does RAG beat zero-shot on PyPI?</a:t>
                      </a:r>
                    </a:p>
                  </a:txBody>
                  <a:tcPr marL="41150" marR="41150" marT="13725" marB="13725" anchor="ctr">
                    <a:solidFill>
                      <a:srgbClr val="FFFFFF"/>
                    </a:solidFill>
                  </a:tcPr>
                </a:tc>
                <a:tc>
                  <a:txBody>
                    <a:bodyPr/>
                    <a:lstStyle/>
                    <a:p>
                      <a:pPr algn="l"/>
                      <a:r>
                        <a:rPr sz="1250" b="0" i="0">
                          <a:solidFill>
                            <a:srgbClr val="23272D"/>
                          </a:solidFill>
                          <a:latin typeface="Calibri"/>
                        </a:rPr>
                        <a:t>no_rag vs. rag vs. rag_fewshot</a:t>
                      </a:r>
                    </a:p>
                  </a:txBody>
                  <a:tcPr marL="41150" marR="41150" marT="13725" marB="13725" anchor="ctr">
                    <a:solidFill>
                      <a:srgbClr val="FFFFFF"/>
                    </a:solidFill>
                  </a:tcPr>
                </a:tc>
                <a:extLst>
                  <a:ext uri="{0D108BD9-81ED-4DB2-BD59-A6C34878D82A}">
                    <a16:rowId xmlns:a16="http://schemas.microsoft.com/office/drawing/2014/main" val="10004"/>
                  </a:ext>
                </a:extLst>
              </a:tr>
              <a:tr h="411480">
                <a:tc>
                  <a:txBody>
                    <a:bodyPr/>
                    <a:lstStyle/>
                    <a:p>
                      <a:pPr algn="l"/>
                      <a:r>
                        <a:rPr sz="1250" b="1" i="0">
                          <a:solidFill>
                            <a:srgbClr val="23272D"/>
                          </a:solidFill>
                          <a:latin typeface="Calibri"/>
                        </a:rPr>
                        <a:t>RQ5</a:t>
                      </a:r>
                    </a:p>
                  </a:txBody>
                  <a:tcPr marL="41150" marR="41150" marT="13725" marB="13725" anchor="ctr">
                    <a:solidFill>
                      <a:srgbClr val="F1F3F5"/>
                    </a:solidFill>
                  </a:tcPr>
                </a:tc>
                <a:tc>
                  <a:txBody>
                    <a:bodyPr/>
                    <a:lstStyle/>
                    <a:p>
                      <a:pPr algn="l"/>
                      <a:r>
                        <a:rPr sz="1250" b="0" i="0">
                          <a:solidFill>
                            <a:srgbClr val="23272D"/>
                          </a:solidFill>
                          <a:latin typeface="Calibri"/>
                        </a:rPr>
                        <a:t>Why does it fail when it fails?</a:t>
                      </a:r>
                    </a:p>
                  </a:txBody>
                  <a:tcPr marL="41150" marR="41150" marT="13725" marB="13725" anchor="ctr">
                    <a:solidFill>
                      <a:srgbClr val="F1F3F5"/>
                    </a:solidFill>
                  </a:tcPr>
                </a:tc>
                <a:tc>
                  <a:txBody>
                    <a:bodyPr/>
                    <a:lstStyle/>
                    <a:p>
                      <a:pPr algn="l"/>
                      <a:r>
                        <a:rPr sz="1250" b="0" i="0">
                          <a:solidFill>
                            <a:srgbClr val="23272D"/>
                          </a:solidFill>
                          <a:latin typeface="Calibri"/>
                        </a:rPr>
                        <a:t>Evidence sufficient? Right lines cited?</a:t>
                      </a:r>
                    </a:p>
                  </a:txBody>
                  <a:tcPr marL="41150" marR="41150" marT="13725" marB="13725" anchor="ctr">
                    <a:solidFill>
                      <a:srgbClr val="F1F3F5"/>
                    </a:solidFill>
                  </a:tcPr>
                </a:tc>
                <a:extLst>
                  <a:ext uri="{0D108BD9-81ED-4DB2-BD59-A6C34878D82A}">
                    <a16:rowId xmlns:a16="http://schemas.microsoft.com/office/drawing/2014/main" val="10005"/>
                  </a:ext>
                </a:extLst>
              </a:tr>
              <a:tr h="411480">
                <a:tc>
                  <a:txBody>
                    <a:bodyPr/>
                    <a:lstStyle/>
                    <a:p>
                      <a:pPr algn="l"/>
                      <a:r>
                        <a:rPr sz="1250" b="1" i="0">
                          <a:solidFill>
                            <a:srgbClr val="23272D"/>
                          </a:solidFill>
                          <a:latin typeface="Calibri"/>
                        </a:rPr>
                        <a:t>RQ6</a:t>
                      </a:r>
                    </a:p>
                  </a:txBody>
                  <a:tcPr marL="41150" marR="41150" marT="13725" marB="13725" anchor="ctr">
                    <a:solidFill>
                      <a:srgbClr val="FFFFFF"/>
                    </a:solidFill>
                  </a:tcPr>
                </a:tc>
                <a:tc>
                  <a:txBody>
                    <a:bodyPr/>
                    <a:lstStyle/>
                    <a:p>
                      <a:pPr algn="l"/>
                      <a:r>
                        <a:rPr sz="1250" b="0" i="0">
                          <a:solidFill>
                            <a:srgbClr val="23272D"/>
                          </a:solidFill>
                          <a:latin typeface="Calibri"/>
                        </a:rPr>
                        <a:t>Do the planned improvements help?</a:t>
                      </a:r>
                    </a:p>
                  </a:txBody>
                  <a:tcPr marL="41150" marR="41150" marT="13725" marB="13725" anchor="ctr">
                    <a:solidFill>
                      <a:srgbClr val="FFFFFF"/>
                    </a:solidFill>
                  </a:tcPr>
                </a:tc>
                <a:tc>
                  <a:txBody>
                    <a:bodyPr/>
                    <a:lstStyle/>
                    <a:p>
                      <a:pPr algn="l"/>
                      <a:r>
                        <a:rPr sz="1250" b="0" i="0">
                          <a:solidFill>
                            <a:srgbClr val="23272D"/>
                          </a:solidFill>
                          <a:latin typeface="Calibri"/>
                        </a:rPr>
                        <a:t>Add hybrid, rerank, cAST, gate one by one</a:t>
                      </a:r>
                    </a:p>
                  </a:txBody>
                  <a:tcPr marL="41150" marR="41150" marT="13725" marB="13725" anchor="ctr">
                    <a:solidFill>
                      <a:srgbClr val="FFFFFF"/>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411480" y="4114800"/>
            <a:ext cx="8321040" cy="36576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0" i="0">
                <a:solidFill>
                  <a:srgbClr val="23272D"/>
                </a:solidFill>
                <a:latin typeface="Calibri"/>
              </a:rPr>
              <a:t>E1 answers RQ1–RQ3; E2 answers RQ4–RQ6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Preliminary evidence from an earlier pilot</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Phi-3-mini on SQuAD 2.0: RAG helps most, a guardrail helps further (not part of E1/E2)</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21</a:t>
            </a:r>
          </a:p>
        </p:txBody>
      </p:sp>
      <p:sp>
        <p:nvSpPr>
          <p:cNvPr id="5" name="Rectangle 4"/>
          <p:cNvSpPr/>
          <p:nvPr/>
        </p:nvSpPr>
        <p:spPr>
          <a:xfrm>
            <a:off x="41148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41148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8521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−0.486</a:t>
            </a:r>
          </a:p>
        </p:txBody>
      </p:sp>
      <p:sp>
        <p:nvSpPr>
          <p:cNvPr id="8" name="TextBox 7"/>
          <p:cNvSpPr txBox="1"/>
          <p:nvPr/>
        </p:nvSpPr>
        <p:spPr>
          <a:xfrm>
            <a:off x="58521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Truthfulness, no retrieval</a:t>
            </a:r>
          </a:p>
        </p:txBody>
      </p:sp>
      <p:sp>
        <p:nvSpPr>
          <p:cNvPr id="9" name="Rectangle 8"/>
          <p:cNvSpPr/>
          <p:nvPr/>
        </p:nvSpPr>
        <p:spPr>
          <a:xfrm>
            <a:off x="251460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251460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68833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0.053</a:t>
            </a:r>
          </a:p>
        </p:txBody>
      </p:sp>
      <p:sp>
        <p:nvSpPr>
          <p:cNvPr id="12" name="TextBox 11"/>
          <p:cNvSpPr txBox="1"/>
          <p:nvPr/>
        </p:nvSpPr>
        <p:spPr>
          <a:xfrm>
            <a:off x="268833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Truthfulness, plain RAG</a:t>
            </a:r>
          </a:p>
        </p:txBody>
      </p:sp>
      <p:sp>
        <p:nvSpPr>
          <p:cNvPr id="13" name="Rectangle 12"/>
          <p:cNvSpPr/>
          <p:nvPr/>
        </p:nvSpPr>
        <p:spPr>
          <a:xfrm>
            <a:off x="461772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461772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79145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0.140</a:t>
            </a:r>
          </a:p>
        </p:txBody>
      </p:sp>
      <p:sp>
        <p:nvSpPr>
          <p:cNvPr id="16" name="TextBox 15"/>
          <p:cNvSpPr txBox="1"/>
          <p:nvPr/>
        </p:nvSpPr>
        <p:spPr>
          <a:xfrm>
            <a:off x="479145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Truthfulness, + HHEM + relevance</a:t>
            </a:r>
          </a:p>
        </p:txBody>
      </p:sp>
      <p:sp>
        <p:nvSpPr>
          <p:cNvPr id="17" name="Rectangle 16"/>
          <p:cNvSpPr/>
          <p:nvPr/>
        </p:nvSpPr>
        <p:spPr>
          <a:xfrm>
            <a:off x="6720840" y="109728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6720840" y="109728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94576" y="114300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0.225</a:t>
            </a:r>
          </a:p>
        </p:txBody>
      </p:sp>
      <p:sp>
        <p:nvSpPr>
          <p:cNvPr id="20" name="TextBox 19"/>
          <p:cNvSpPr txBox="1"/>
          <p:nvPr/>
        </p:nvSpPr>
        <p:spPr>
          <a:xfrm>
            <a:off x="6894576" y="1600200"/>
            <a:ext cx="1728216" cy="329184"/>
          </a:xfrm>
          <a:prstGeom prst="rect">
            <a:avLst/>
          </a:prstGeom>
          <a:noFill/>
        </p:spPr>
        <p:txBody>
          <a:bodyPr wrap="square" lIns="34275" tIns="20550" rIns="34275" bIns="20550" anchor="t">
            <a:spAutoFit/>
          </a:bodyPr>
          <a:lstStyle/>
          <a:p>
            <a:pPr algn="l"/>
            <a:r>
              <a:rPr sz="1100" b="0" i="0">
                <a:solidFill>
                  <a:srgbClr val="555C64"/>
                </a:solidFill>
                <a:latin typeface="Calibri"/>
              </a:rPr>
              <a:t>Truthfulness, + MiniCheck</a:t>
            </a:r>
          </a:p>
        </p:txBody>
      </p:sp>
      <p:sp>
        <p:nvSpPr>
          <p:cNvPr id="21" name="Rectangle 20"/>
          <p:cNvSpPr/>
          <p:nvPr/>
        </p:nvSpPr>
        <p:spPr>
          <a:xfrm>
            <a:off x="411480" y="2103120"/>
            <a:ext cx="4069080" cy="155448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02920" y="213969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What we learned</a:t>
            </a:r>
          </a:p>
        </p:txBody>
      </p:sp>
      <p:cxnSp>
        <p:nvCxnSpPr>
          <p:cNvPr id="23" name="Connector 22"/>
          <p:cNvCxnSpPr/>
          <p:nvPr/>
        </p:nvCxnSpPr>
        <p:spPr>
          <a:xfrm>
            <a:off x="539496" y="2468879"/>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2560320"/>
            <a:ext cx="3886200" cy="1051560"/>
          </a:xfrm>
          <a:prstGeom prst="rect">
            <a:avLst/>
          </a:prstGeom>
          <a:noFill/>
        </p:spPr>
        <p:txBody>
          <a:bodyPr wrap="square" lIns="34275" tIns="20550" rIns="34275" bIns="20550" anchor="t">
            <a:spAutoFit/>
          </a:bodyPr>
          <a:lstStyle/>
          <a:p>
            <a:pPr marL="199072" indent="-199072" algn="l">
              <a:spcAft>
                <a:spcPts val="400"/>
              </a:spcAft>
              <a:buClr>
                <a:srgbClr val="BC1C2F"/>
              </a:buClr>
              <a:buSzPts val="1400"/>
              <a:buFont typeface="Arial"/>
              <a:buChar char="•"/>
            </a:pPr>
            <a:r>
              <a:rPr sz="1400" b="0" i="0">
                <a:solidFill>
                  <a:srgbClr val="23272D"/>
                </a:solidFill>
                <a:latin typeface="Calibri"/>
              </a:rPr>
              <a:t>Retrieval gave the largest gain</a:t>
            </a:r>
          </a:p>
          <a:p>
            <a:pPr marL="199072" indent="-199072" algn="l">
              <a:spcAft>
                <a:spcPts val="400"/>
              </a:spcAft>
              <a:buClr>
                <a:srgbClr val="BC1C2F"/>
              </a:buClr>
              <a:buSzPts val="1400"/>
              <a:buFont typeface="Arial"/>
              <a:buChar char="•"/>
            </a:pPr>
            <a:r>
              <a:rPr sz="1400" b="0" i="0">
                <a:solidFill>
                  <a:srgbClr val="23272D"/>
                </a:solidFill>
                <a:latin typeface="Calibri"/>
              </a:rPr>
              <a:t>A stronger detector doubled the gain</a:t>
            </a:r>
          </a:p>
          <a:p>
            <a:pPr marL="199072" indent="-199072" algn="l">
              <a:spcAft>
                <a:spcPts val="400"/>
              </a:spcAft>
              <a:buClr>
                <a:srgbClr val="BC1C2F"/>
              </a:buClr>
              <a:buSzPts val="1400"/>
              <a:buFont typeface="Arial"/>
              <a:buChar char="•"/>
            </a:pPr>
            <a:r>
              <a:rPr sz="1400" b="0" i="0">
                <a:solidFill>
                  <a:srgbClr val="23272D"/>
                </a:solidFill>
                <a:latin typeface="Calibri"/>
              </a:rPr>
              <a:t>Coverage fell from 0.78 to 0.57</a:t>
            </a:r>
          </a:p>
        </p:txBody>
      </p:sp>
      <p:sp>
        <p:nvSpPr>
          <p:cNvPr id="25" name="Rectangle 24"/>
          <p:cNvSpPr/>
          <p:nvPr/>
        </p:nvSpPr>
        <p:spPr>
          <a:xfrm>
            <a:off x="4617720" y="2103120"/>
            <a:ext cx="4114800" cy="155448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709159" y="213969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Why it matters here</a:t>
            </a:r>
          </a:p>
        </p:txBody>
      </p:sp>
      <p:cxnSp>
        <p:nvCxnSpPr>
          <p:cNvPr id="27" name="Connector 26"/>
          <p:cNvCxnSpPr/>
          <p:nvPr/>
        </p:nvCxnSpPr>
        <p:spPr>
          <a:xfrm>
            <a:off x="4745736" y="2468879"/>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09159" y="2560320"/>
            <a:ext cx="3931920" cy="1051560"/>
          </a:xfrm>
          <a:prstGeom prst="rect">
            <a:avLst/>
          </a:prstGeom>
          <a:noFill/>
        </p:spPr>
        <p:txBody>
          <a:bodyPr wrap="square" lIns="34275" tIns="20550" rIns="34275" bIns="20550" anchor="t">
            <a:spAutoFit/>
          </a:bodyPr>
          <a:lstStyle/>
          <a:p>
            <a:pPr marL="199072" indent="-199072" algn="l">
              <a:spcAft>
                <a:spcPts val="400"/>
              </a:spcAft>
              <a:buClr>
                <a:srgbClr val="BC1C2F"/>
              </a:buClr>
              <a:buSzPts val="1400"/>
              <a:buFont typeface="Arial"/>
              <a:buChar char="•"/>
            </a:pPr>
            <a:r>
              <a:rPr sz="1400" b="0" i="0">
                <a:solidFill>
                  <a:srgbClr val="23272D"/>
                </a:solidFill>
                <a:latin typeface="Calibri"/>
              </a:rPr>
              <a:t>Most errors: </a:t>
            </a:r>
            <a:r>
              <a:rPr sz="1400" b="1" i="0">
                <a:solidFill>
                  <a:srgbClr val="23272D"/>
                </a:solidFill>
                <a:latin typeface="Calibri"/>
              </a:rPr>
              <a:t>grounded but off-question</a:t>
            </a:r>
          </a:p>
          <a:p>
            <a:pPr marL="199072" indent="-199072" algn="l">
              <a:spcAft>
                <a:spcPts val="400"/>
              </a:spcAft>
              <a:buClr>
                <a:srgbClr val="BC1C2F"/>
              </a:buClr>
              <a:buSzPts val="1400"/>
              <a:buFont typeface="Arial"/>
              <a:buChar char="•"/>
            </a:pPr>
            <a:r>
              <a:rPr sz="1400" b="0" i="0">
                <a:solidFill>
                  <a:srgbClr val="23272D"/>
                </a:solidFill>
                <a:latin typeface="Calibri"/>
              </a:rPr>
              <a:t>Motivates the gate and citation constraint</a:t>
            </a:r>
          </a:p>
        </p:txBody>
      </p:sp>
      <p:sp>
        <p:nvSpPr>
          <p:cNvPr id="29" name="Rectangle 28"/>
          <p:cNvSpPr/>
          <p:nvPr/>
        </p:nvSpPr>
        <p:spPr>
          <a:xfrm>
            <a:off x="411480" y="3794760"/>
            <a:ext cx="8321040" cy="45720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0" i="0">
                <a:solidFill>
                  <a:srgbClr val="23272D"/>
                </a:solidFill>
                <a:latin typeface="Calibri"/>
              </a:rPr>
              <a:t>Pilot, 356 SQuAD 2.0 questions: </a:t>
            </a:r>
            <a:r>
              <a:rPr sz="1350" b="1" i="0">
                <a:solidFill>
                  <a:srgbClr val="23272D"/>
                </a:solidFill>
                <a:latin typeface="Calibri"/>
              </a:rPr>
              <a:t>background only</a:t>
            </a:r>
            <a:r>
              <a:rPr sz="1350" b="0" i="0">
                <a:solidFill>
                  <a:srgbClr val="23272D"/>
                </a:solidFill>
                <a:latin typeface="Calibri"/>
              </a:rPr>
              <a:t>, not a result of this study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Evaluation  |  Threats to validity</a:t>
            </a:r>
          </a:p>
        </p:txBody>
      </p:sp>
      <p:sp>
        <p:nvSpPr>
          <p:cNvPr id="3" name="Subtitle"/>
          <p:cNvSpPr txBox="1"/>
          <p:nvPr/>
        </p:nvSpPr>
        <p:spPr>
          <a:xfrm>
            <a:off x="411480" y="667512"/>
            <a:ext cx="8321040" cy="347472"/>
          </a:xfrm>
          <a:prstGeom prst="rect">
            <a:avLst/>
          </a:prstGeom>
          <a:noFill/>
        </p:spPr>
        <p:txBody>
          <a:bodyPr wrap="square" lIns="34275" tIns="20550" rIns="34275" bIns="20550" anchor="t">
            <a:spAutoFit/>
          </a:bodyPr>
          <a:lstStyle/>
          <a:p>
            <a:pPr algn="l"/>
            <a:r>
              <a:rPr sz="1600" b="1" i="0">
                <a:solidFill>
                  <a:srgbClr val="23272D"/>
                </a:solidFill>
                <a:latin typeface="Calibri"/>
              </a:rPr>
              <a:t>What could make our conclusions wrong</a:t>
            </a:r>
          </a:p>
        </p:txBody>
      </p:sp>
      <p:sp>
        <p:nvSpPr>
          <p:cNvPr id="4"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22</a:t>
            </a:r>
          </a:p>
        </p:txBody>
      </p:sp>
      <p:sp>
        <p:nvSpPr>
          <p:cNvPr id="5" name="Rectangle 4"/>
          <p:cNvSpPr/>
          <p:nvPr/>
        </p:nvSpPr>
        <p:spPr>
          <a:xfrm>
            <a:off x="411480" y="1097280"/>
            <a:ext cx="4069080" cy="132588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3385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Internal</a:t>
            </a:r>
          </a:p>
        </p:txBody>
      </p:sp>
      <p:cxnSp>
        <p:nvCxnSpPr>
          <p:cNvPr id="7" name="Connector 6"/>
          <p:cNvCxnSpPr/>
          <p:nvPr/>
        </p:nvCxnSpPr>
        <p:spPr>
          <a:xfrm>
            <a:off x="539496" y="1463040"/>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1554480"/>
            <a:ext cx="3886200" cy="822959"/>
          </a:xfrm>
          <a:prstGeom prst="rect">
            <a:avLst/>
          </a:prstGeom>
          <a:noFill/>
        </p:spPr>
        <p:txBody>
          <a:bodyPr wrap="square" lIns="34275" tIns="20550" rIns="34275" bIns="20550" anchor="t">
            <a:spAutoFit/>
          </a:bodyPr>
          <a:lstStyle/>
          <a:p>
            <a:pPr algn="l">
              <a:spcAft>
                <a:spcPts val="200"/>
              </a:spcAft>
            </a:pPr>
            <a:r>
              <a:rPr sz="1400" b="0" i="0">
                <a:solidFill>
                  <a:srgbClr val="23272D"/>
                </a:solidFill>
                <a:latin typeface="Calibri"/>
              </a:rPr>
              <a:t>LLM judges are biased; official scoring re-implemented; E2 label leakage risk</a:t>
            </a:r>
          </a:p>
        </p:txBody>
      </p:sp>
      <p:sp>
        <p:nvSpPr>
          <p:cNvPr id="9" name="Rectangle 8"/>
          <p:cNvSpPr/>
          <p:nvPr/>
        </p:nvSpPr>
        <p:spPr>
          <a:xfrm>
            <a:off x="4617720" y="1097280"/>
            <a:ext cx="4114800" cy="132588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709159" y="113385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External</a:t>
            </a:r>
          </a:p>
        </p:txBody>
      </p:sp>
      <p:cxnSp>
        <p:nvCxnSpPr>
          <p:cNvPr id="11" name="Connector 10"/>
          <p:cNvCxnSpPr/>
          <p:nvPr/>
        </p:nvCxnSpPr>
        <p:spPr>
          <a:xfrm>
            <a:off x="4745736" y="1463040"/>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709159" y="1554480"/>
            <a:ext cx="3931920" cy="822959"/>
          </a:xfrm>
          <a:prstGeom prst="rect">
            <a:avLst/>
          </a:prstGeom>
          <a:noFill/>
        </p:spPr>
        <p:txBody>
          <a:bodyPr wrap="square" lIns="34275" tIns="20550" rIns="34275" bIns="20550" anchor="t">
            <a:spAutoFit/>
          </a:bodyPr>
          <a:lstStyle/>
          <a:p>
            <a:pPr algn="l">
              <a:spcAft>
                <a:spcPts val="200"/>
              </a:spcAft>
            </a:pPr>
            <a:r>
              <a:rPr sz="1400" b="0" i="0">
                <a:solidFill>
                  <a:srgbClr val="23272D"/>
                </a:solidFill>
                <a:latin typeface="Calibri"/>
              </a:rPr>
              <a:t>One generator per study; CRAG is web QA, PyPI is code</a:t>
            </a:r>
          </a:p>
        </p:txBody>
      </p:sp>
      <p:sp>
        <p:nvSpPr>
          <p:cNvPr id="13" name="Rectangle 12"/>
          <p:cNvSpPr/>
          <p:nvPr/>
        </p:nvSpPr>
        <p:spPr>
          <a:xfrm>
            <a:off x="411480" y="2560320"/>
            <a:ext cx="4069080" cy="132588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02920" y="2596896"/>
            <a:ext cx="3886200" cy="310896"/>
          </a:xfrm>
          <a:prstGeom prst="rect">
            <a:avLst/>
          </a:prstGeom>
          <a:noFill/>
        </p:spPr>
        <p:txBody>
          <a:bodyPr wrap="square" lIns="34275" tIns="20550" rIns="34275" bIns="20550" anchor="ctr">
            <a:spAutoFit/>
          </a:bodyPr>
          <a:lstStyle/>
          <a:p>
            <a:pPr algn="l"/>
            <a:r>
              <a:rPr sz="1500" b="1" i="0">
                <a:solidFill>
                  <a:srgbClr val="BC1C2F"/>
                </a:solidFill>
                <a:latin typeface="Calibri"/>
              </a:rPr>
              <a:t>Construct</a:t>
            </a:r>
          </a:p>
        </p:txBody>
      </p:sp>
      <p:cxnSp>
        <p:nvCxnSpPr>
          <p:cNvPr id="15" name="Connector 14"/>
          <p:cNvCxnSpPr/>
          <p:nvPr/>
        </p:nvCxnSpPr>
        <p:spPr>
          <a:xfrm>
            <a:off x="539496" y="2926079"/>
            <a:ext cx="381304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20" y="3017520"/>
            <a:ext cx="3886200" cy="822959"/>
          </a:xfrm>
          <a:prstGeom prst="rect">
            <a:avLst/>
          </a:prstGeom>
          <a:noFill/>
        </p:spPr>
        <p:txBody>
          <a:bodyPr wrap="square" lIns="34275" tIns="20550" rIns="34275" bIns="20550" anchor="t">
            <a:spAutoFit/>
          </a:bodyPr>
          <a:lstStyle/>
          <a:p>
            <a:pPr algn="l">
              <a:spcAft>
                <a:spcPts val="200"/>
              </a:spcAft>
            </a:pPr>
            <a:r>
              <a:rPr sz="1400" b="0" i="0">
                <a:solidFill>
                  <a:srgbClr val="23272D"/>
                </a:solidFill>
                <a:latin typeface="Calibri"/>
              </a:rPr>
              <a:t>Truthfulness rewards refusing; grounding is not correctness</a:t>
            </a:r>
          </a:p>
        </p:txBody>
      </p:sp>
      <p:sp>
        <p:nvSpPr>
          <p:cNvPr id="17" name="Rectangle 16"/>
          <p:cNvSpPr/>
          <p:nvPr/>
        </p:nvSpPr>
        <p:spPr>
          <a:xfrm>
            <a:off x="4617720" y="2560320"/>
            <a:ext cx="4114800" cy="132588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709159" y="2596896"/>
            <a:ext cx="3931920" cy="310896"/>
          </a:xfrm>
          <a:prstGeom prst="rect">
            <a:avLst/>
          </a:prstGeom>
          <a:noFill/>
        </p:spPr>
        <p:txBody>
          <a:bodyPr wrap="square" lIns="34275" tIns="20550" rIns="34275" bIns="20550" anchor="ctr">
            <a:spAutoFit/>
          </a:bodyPr>
          <a:lstStyle/>
          <a:p>
            <a:pPr algn="l"/>
            <a:r>
              <a:rPr sz="1500" b="1" i="0">
                <a:solidFill>
                  <a:srgbClr val="BC1C2F"/>
                </a:solidFill>
                <a:latin typeface="Calibri"/>
              </a:rPr>
              <a:t>Conclusion</a:t>
            </a:r>
          </a:p>
        </p:txBody>
      </p:sp>
      <p:cxnSp>
        <p:nvCxnSpPr>
          <p:cNvPr id="19" name="Connector 18"/>
          <p:cNvCxnSpPr/>
          <p:nvPr/>
        </p:nvCxnSpPr>
        <p:spPr>
          <a:xfrm>
            <a:off x="4745736" y="2926079"/>
            <a:ext cx="385876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709159" y="3017520"/>
            <a:ext cx="3931920" cy="822959"/>
          </a:xfrm>
          <a:prstGeom prst="rect">
            <a:avLst/>
          </a:prstGeom>
          <a:noFill/>
        </p:spPr>
        <p:txBody>
          <a:bodyPr wrap="square" lIns="34275" tIns="20550" rIns="34275" bIns="20550" anchor="t">
            <a:spAutoFit/>
          </a:bodyPr>
          <a:lstStyle/>
          <a:p>
            <a:pPr algn="l">
              <a:spcAft>
                <a:spcPts val="200"/>
              </a:spcAft>
            </a:pPr>
            <a:r>
              <a:rPr sz="1400" b="0" i="0">
                <a:solidFill>
                  <a:srgbClr val="23272D"/>
                </a:solidFill>
                <a:latin typeface="Calibri"/>
              </a:rPr>
              <a:t>One seed, 1,335 questions: add bootstrap intervals</a:t>
            </a:r>
          </a:p>
        </p:txBody>
      </p:sp>
      <p:sp>
        <p:nvSpPr>
          <p:cNvPr id="21" name="Rectangle 20"/>
          <p:cNvSpPr/>
          <p:nvPr/>
        </p:nvSpPr>
        <p:spPr>
          <a:xfrm>
            <a:off x="411480" y="4023360"/>
            <a:ext cx="8321040" cy="41148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wrap="square" lIns="150000" rIns="100000" rtlCol="0" anchor="ctr"/>
          <a:lstStyle/>
          <a:p>
            <a:pPr algn="l"/>
            <a:r>
              <a:rPr sz="1350" b="1" i="0">
                <a:solidFill>
                  <a:srgbClr val="23272D"/>
                </a:solidFill>
                <a:latin typeface="Calibri"/>
              </a:rPr>
              <a:t>Mitigation:</a:t>
            </a:r>
            <a:r>
              <a:rPr sz="1350" b="0" i="0">
                <a:solidFill>
                  <a:srgbClr val="23272D"/>
                </a:solidFill>
                <a:latin typeface="Calibri"/>
              </a:rPr>
              <a:t> two graders, strict variant, train-only knowledge base, intervals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29184" y="27432"/>
            <a:ext cx="8366760" cy="429768"/>
          </a:xfrm>
          <a:prstGeom prst="rect">
            <a:avLst/>
          </a:prstGeom>
          <a:noFill/>
        </p:spPr>
        <p:txBody>
          <a:bodyPr wrap="square" lIns="34275" tIns="20550" rIns="34275" bIns="20550" anchor="ctr">
            <a:spAutoFit/>
          </a:bodyPr>
          <a:lstStyle/>
          <a:p>
            <a:pPr algn="l"/>
            <a:r>
              <a:rPr sz="2250" b="1" i="0">
                <a:solidFill>
                  <a:srgbClr val="FFFFFF"/>
                </a:solidFill>
                <a:latin typeface="Calibri"/>
              </a:rPr>
              <a:t>Conclusion  |  Summary and next steps</a:t>
            </a:r>
          </a:p>
        </p:txBody>
      </p:sp>
      <p:sp>
        <p:nvSpPr>
          <p:cNvPr id="3" name="Page number"/>
          <p:cNvSpPr txBox="1"/>
          <p:nvPr/>
        </p:nvSpPr>
        <p:spPr>
          <a:xfrm>
            <a:off x="8046720" y="4828032"/>
            <a:ext cx="685800" cy="237744"/>
          </a:xfrm>
          <a:prstGeom prst="rect">
            <a:avLst/>
          </a:prstGeom>
          <a:noFill/>
        </p:spPr>
        <p:txBody>
          <a:bodyPr wrap="square" lIns="34275" tIns="20550" rIns="34275" bIns="20550" anchor="t">
            <a:spAutoFit/>
          </a:bodyPr>
          <a:lstStyle/>
          <a:p>
            <a:pPr algn="r"/>
            <a:r>
              <a:rPr sz="850" b="0" i="0">
                <a:solidFill>
                  <a:srgbClr val="555C64"/>
                </a:solidFill>
                <a:latin typeface="Calibri"/>
              </a:rPr>
              <a:t>23</a:t>
            </a:r>
          </a:p>
        </p:txBody>
      </p:sp>
      <p:sp>
        <p:nvSpPr>
          <p:cNvPr id="4" name="Rectangle 3"/>
          <p:cNvSpPr/>
          <p:nvPr/>
        </p:nvSpPr>
        <p:spPr>
          <a:xfrm>
            <a:off x="411480" y="91440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411480" y="91440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85216" y="96012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6</a:t>
            </a:r>
          </a:p>
        </p:txBody>
      </p:sp>
      <p:sp>
        <p:nvSpPr>
          <p:cNvPr id="7" name="TextBox 6"/>
          <p:cNvSpPr txBox="1"/>
          <p:nvPr/>
        </p:nvSpPr>
        <p:spPr>
          <a:xfrm>
            <a:off x="585216" y="1417320"/>
            <a:ext cx="1728216" cy="329184"/>
          </a:xfrm>
          <a:prstGeom prst="rect">
            <a:avLst/>
          </a:prstGeom>
          <a:noFill/>
        </p:spPr>
        <p:txBody>
          <a:bodyPr wrap="square" lIns="34275" tIns="20550" rIns="34275" bIns="20550" anchor="t">
            <a:spAutoFit/>
          </a:bodyPr>
          <a:lstStyle/>
          <a:p>
            <a:pPr algn="l"/>
            <a:r>
              <a:rPr sz="1200" b="0" i="0">
                <a:solidFill>
                  <a:srgbClr val="555C64"/>
                </a:solidFill>
                <a:latin typeface="Calibri"/>
              </a:rPr>
              <a:t>configurations, B0 → B5</a:t>
            </a:r>
          </a:p>
        </p:txBody>
      </p:sp>
      <p:sp>
        <p:nvSpPr>
          <p:cNvPr id="8" name="Rectangle 7"/>
          <p:cNvSpPr/>
          <p:nvPr/>
        </p:nvSpPr>
        <p:spPr>
          <a:xfrm>
            <a:off x="2514600" y="91440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2514600" y="91440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688336" y="96012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1,335</a:t>
            </a:r>
          </a:p>
        </p:txBody>
      </p:sp>
      <p:sp>
        <p:nvSpPr>
          <p:cNvPr id="11" name="TextBox 10"/>
          <p:cNvSpPr txBox="1"/>
          <p:nvPr/>
        </p:nvSpPr>
        <p:spPr>
          <a:xfrm>
            <a:off x="2688336" y="1417320"/>
            <a:ext cx="1728216" cy="329184"/>
          </a:xfrm>
          <a:prstGeom prst="rect">
            <a:avLst/>
          </a:prstGeom>
          <a:noFill/>
        </p:spPr>
        <p:txBody>
          <a:bodyPr wrap="square" lIns="34275" tIns="20550" rIns="34275" bIns="20550" anchor="t">
            <a:spAutoFit/>
          </a:bodyPr>
          <a:lstStyle/>
          <a:p>
            <a:pPr algn="l"/>
            <a:r>
              <a:rPr sz="1200" b="0" i="0">
                <a:solidFill>
                  <a:srgbClr val="555C64"/>
                </a:solidFill>
                <a:latin typeface="Calibri"/>
              </a:rPr>
              <a:t>CRAG test questions</a:t>
            </a:r>
          </a:p>
        </p:txBody>
      </p:sp>
      <p:sp>
        <p:nvSpPr>
          <p:cNvPr id="12" name="Rectangle 11"/>
          <p:cNvSpPr/>
          <p:nvPr/>
        </p:nvSpPr>
        <p:spPr>
          <a:xfrm>
            <a:off x="4617720" y="91440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617720" y="91440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791456" y="96012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2</a:t>
            </a:r>
          </a:p>
        </p:txBody>
      </p:sp>
      <p:sp>
        <p:nvSpPr>
          <p:cNvPr id="15" name="TextBox 14"/>
          <p:cNvSpPr txBox="1"/>
          <p:nvPr/>
        </p:nvSpPr>
        <p:spPr>
          <a:xfrm>
            <a:off x="4791456" y="1417320"/>
            <a:ext cx="1728216" cy="329184"/>
          </a:xfrm>
          <a:prstGeom prst="rect">
            <a:avLst/>
          </a:prstGeom>
          <a:noFill/>
        </p:spPr>
        <p:txBody>
          <a:bodyPr wrap="square" lIns="34275" tIns="20550" rIns="34275" bIns="20550" anchor="t">
            <a:spAutoFit/>
          </a:bodyPr>
          <a:lstStyle/>
          <a:p>
            <a:pPr algn="l"/>
            <a:r>
              <a:rPr sz="1200" b="0" i="0">
                <a:solidFill>
                  <a:srgbClr val="555C64"/>
                </a:solidFill>
                <a:latin typeface="Calibri"/>
              </a:rPr>
              <a:t>independent graders</a:t>
            </a:r>
          </a:p>
        </p:txBody>
      </p:sp>
      <p:sp>
        <p:nvSpPr>
          <p:cNvPr id="16" name="Rectangle 15"/>
          <p:cNvSpPr/>
          <p:nvPr/>
        </p:nvSpPr>
        <p:spPr>
          <a:xfrm>
            <a:off x="6720840" y="914400"/>
            <a:ext cx="1975104" cy="859536"/>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ectangle 16"/>
          <p:cNvSpPr/>
          <p:nvPr/>
        </p:nvSpPr>
        <p:spPr>
          <a:xfrm>
            <a:off x="6720840" y="914400"/>
            <a:ext cx="54864" cy="859536"/>
          </a:xfrm>
          <a:prstGeom prst="rect">
            <a:avLst/>
          </a:prstGeom>
          <a:solidFill>
            <a:srgbClr val="BC1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894576" y="960120"/>
            <a:ext cx="1728216" cy="457200"/>
          </a:xfrm>
          <a:prstGeom prst="rect">
            <a:avLst/>
          </a:prstGeom>
          <a:noFill/>
        </p:spPr>
        <p:txBody>
          <a:bodyPr wrap="square" lIns="34275" tIns="20550" rIns="34275" bIns="20550" anchor="t">
            <a:spAutoFit/>
          </a:bodyPr>
          <a:lstStyle/>
          <a:p>
            <a:pPr algn="l"/>
            <a:r>
              <a:rPr sz="2400" b="1" i="0">
                <a:solidFill>
                  <a:srgbClr val="23272D"/>
                </a:solidFill>
                <a:latin typeface="Calibri"/>
              </a:rPr>
              <a:t>3</a:t>
            </a:r>
          </a:p>
        </p:txBody>
      </p:sp>
      <p:sp>
        <p:nvSpPr>
          <p:cNvPr id="19" name="TextBox 18"/>
          <p:cNvSpPr txBox="1"/>
          <p:nvPr/>
        </p:nvSpPr>
        <p:spPr>
          <a:xfrm>
            <a:off x="6894576" y="1417320"/>
            <a:ext cx="1728216" cy="329184"/>
          </a:xfrm>
          <a:prstGeom prst="rect">
            <a:avLst/>
          </a:prstGeom>
          <a:noFill/>
        </p:spPr>
        <p:txBody>
          <a:bodyPr wrap="square" lIns="34275" tIns="20550" rIns="34275" bIns="20550" anchor="t">
            <a:spAutoFit/>
          </a:bodyPr>
          <a:lstStyle/>
          <a:p>
            <a:pPr algn="l"/>
            <a:r>
              <a:rPr sz="1200" b="0" i="0">
                <a:solidFill>
                  <a:srgbClr val="555C64"/>
                </a:solidFill>
                <a:latin typeface="Calibri"/>
              </a:rPr>
              <a:t>detector modes</a:t>
            </a:r>
          </a:p>
        </p:txBody>
      </p:sp>
      <p:sp>
        <p:nvSpPr>
          <p:cNvPr id="20" name="Rectangle 19"/>
          <p:cNvSpPr/>
          <p:nvPr/>
        </p:nvSpPr>
        <p:spPr>
          <a:xfrm>
            <a:off x="411480" y="1920240"/>
            <a:ext cx="3931920" cy="2331720"/>
          </a:xfrm>
          <a:prstGeom prst="rect">
            <a:avLst/>
          </a:prstGeom>
          <a:solidFill>
            <a:srgbClr val="FBF0F2"/>
          </a:solidFill>
          <a:ln w="10160">
            <a:solidFill>
              <a:srgbClr val="BC1C2F"/>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02920" y="1956816"/>
            <a:ext cx="3749039" cy="310896"/>
          </a:xfrm>
          <a:prstGeom prst="rect">
            <a:avLst/>
          </a:prstGeom>
          <a:noFill/>
        </p:spPr>
        <p:txBody>
          <a:bodyPr wrap="square" lIns="34275" tIns="20550" rIns="34275" bIns="20550" anchor="ctr">
            <a:spAutoFit/>
          </a:bodyPr>
          <a:lstStyle/>
          <a:p>
            <a:pPr algn="l"/>
            <a:r>
              <a:rPr sz="1500" b="1" i="0">
                <a:solidFill>
                  <a:srgbClr val="BC1C2F"/>
                </a:solidFill>
                <a:latin typeface="Calibri"/>
              </a:rPr>
              <a:t>Conclusion</a:t>
            </a:r>
          </a:p>
        </p:txBody>
      </p:sp>
      <p:cxnSp>
        <p:nvCxnSpPr>
          <p:cNvPr id="22" name="Connector 21"/>
          <p:cNvCxnSpPr/>
          <p:nvPr/>
        </p:nvCxnSpPr>
        <p:spPr>
          <a:xfrm>
            <a:off x="539496" y="2286000"/>
            <a:ext cx="3675887"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2377440"/>
            <a:ext cx="3749039" cy="1828799"/>
          </a:xfrm>
          <a:prstGeom prst="rect">
            <a:avLst/>
          </a:prstGeom>
          <a:noFill/>
        </p:spPr>
        <p:txBody>
          <a:bodyPr wrap="square" lIns="34275" tIns="20550" rIns="34275" bIns="20550" anchor="t">
            <a:spAutoFit/>
          </a:bodyPr>
          <a:lstStyle/>
          <a:p>
            <a:pPr marL="199072" indent="-199072" algn="l">
              <a:spcAft>
                <a:spcPts val="600"/>
              </a:spcAft>
              <a:buClr>
                <a:srgbClr val="BC1C2F"/>
              </a:buClr>
              <a:buSzPts val="1450"/>
              <a:buFont typeface="Arial"/>
              <a:buChar char="•"/>
            </a:pPr>
            <a:r>
              <a:rPr sz="1450" b="0" i="0">
                <a:solidFill>
                  <a:srgbClr val="23272D"/>
                </a:solidFill>
                <a:latin typeface="Calibri"/>
              </a:rPr>
              <a:t>RAG concepts: pipeline, retrieval, variants, evaluation</a:t>
            </a:r>
          </a:p>
          <a:p>
            <a:pPr marL="199072" indent="-199072" algn="l">
              <a:spcAft>
                <a:spcPts val="600"/>
              </a:spcAft>
              <a:buClr>
                <a:srgbClr val="BC1C2F"/>
              </a:buClr>
              <a:buSzPts val="1450"/>
              <a:buFont typeface="Arial"/>
              <a:buChar char="•"/>
            </a:pPr>
            <a:r>
              <a:rPr sz="1450" b="0" i="0">
                <a:solidFill>
                  <a:srgbClr val="23272D"/>
                </a:solidFill>
                <a:latin typeface="Calibri"/>
              </a:rPr>
              <a:t>Two studies, one code base</a:t>
            </a:r>
          </a:p>
          <a:p>
            <a:pPr marL="199072" indent="-199072" algn="l">
              <a:spcAft>
                <a:spcPts val="600"/>
              </a:spcAft>
              <a:buClr>
                <a:srgbClr val="BC1C2F"/>
              </a:buClr>
              <a:buSzPts val="1450"/>
              <a:buFont typeface="Arial"/>
              <a:buChar char="•"/>
            </a:pPr>
            <a:r>
              <a:rPr sz="1450" b="0" i="0">
                <a:solidFill>
                  <a:srgbClr val="23272D"/>
                </a:solidFill>
                <a:latin typeface="Calibri"/>
              </a:rPr>
              <a:t>Method </a:t>
            </a:r>
            <a:r>
              <a:rPr sz="1450" b="1" i="0">
                <a:solidFill>
                  <a:srgbClr val="23272D"/>
                </a:solidFill>
                <a:latin typeface="Calibri"/>
              </a:rPr>
              <a:t>implemented</a:t>
            </a:r>
            <a:r>
              <a:rPr sz="1450" b="0" i="0">
                <a:solidFill>
                  <a:srgbClr val="23272D"/>
                </a:solidFill>
                <a:latin typeface="Calibri"/>
              </a:rPr>
              <a:t>; final results being recorded</a:t>
            </a:r>
          </a:p>
        </p:txBody>
      </p:sp>
      <p:sp>
        <p:nvSpPr>
          <p:cNvPr id="24" name="Rectangle 23"/>
          <p:cNvSpPr/>
          <p:nvPr/>
        </p:nvSpPr>
        <p:spPr>
          <a:xfrm>
            <a:off x="4480560" y="1920240"/>
            <a:ext cx="4251960" cy="2331720"/>
          </a:xfrm>
          <a:prstGeom prst="rect">
            <a:avLst/>
          </a:prstGeom>
          <a:solidFill>
            <a:srgbClr val="F1F3F5"/>
          </a:solidFill>
          <a:ln w="10160">
            <a:solidFill>
              <a:srgbClr val="DADEE2"/>
            </a:solidFill>
          </a:ln>
          <a:effectLst>
            <a:outerShdw blurRad="40000" dist="23000" dir="5400000" rotWithShape="0">
              <a:srgbClr val="000000">
                <a:alpha val="34902"/>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572000" y="1956816"/>
            <a:ext cx="4069080" cy="310896"/>
          </a:xfrm>
          <a:prstGeom prst="rect">
            <a:avLst/>
          </a:prstGeom>
          <a:noFill/>
        </p:spPr>
        <p:txBody>
          <a:bodyPr wrap="square" lIns="34275" tIns="20550" rIns="34275" bIns="20550" anchor="ctr">
            <a:spAutoFit/>
          </a:bodyPr>
          <a:lstStyle/>
          <a:p>
            <a:pPr algn="l"/>
            <a:r>
              <a:rPr sz="1500" b="1" i="0">
                <a:solidFill>
                  <a:srgbClr val="BC1C2F"/>
                </a:solidFill>
                <a:latin typeface="Calibri"/>
              </a:rPr>
              <a:t>Next steps</a:t>
            </a:r>
          </a:p>
        </p:txBody>
      </p:sp>
      <p:cxnSp>
        <p:nvCxnSpPr>
          <p:cNvPr id="26" name="Connector 25"/>
          <p:cNvCxnSpPr/>
          <p:nvPr/>
        </p:nvCxnSpPr>
        <p:spPr>
          <a:xfrm>
            <a:off x="4608576" y="2286000"/>
            <a:ext cx="3995928" cy="0"/>
          </a:xfrm>
          <a:prstGeom prst="line">
            <a:avLst/>
          </a:prstGeom>
          <a:ln w="9525">
            <a:solidFill>
              <a:srgbClr val="BC1C2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0" y="2377440"/>
            <a:ext cx="4069080" cy="1828799"/>
          </a:xfrm>
          <a:prstGeom prst="rect">
            <a:avLst/>
          </a:prstGeom>
          <a:noFill/>
        </p:spPr>
        <p:txBody>
          <a:bodyPr wrap="square" lIns="34275" tIns="20550" rIns="34275" bIns="20550" anchor="t">
            <a:spAutoFit/>
          </a:bodyPr>
          <a:lstStyle/>
          <a:p>
            <a:pPr marL="199072" indent="-199072" algn="l">
              <a:spcAft>
                <a:spcPts val="400"/>
              </a:spcAft>
              <a:buClr>
                <a:srgbClr val="BC1C2F"/>
              </a:buClr>
              <a:buSzPts val="1400"/>
              <a:buFont typeface="Arial"/>
              <a:buChar char="•"/>
            </a:pPr>
            <a:r>
              <a:rPr sz="1400" b="0" i="0">
                <a:solidFill>
                  <a:srgbClr val="23272D"/>
                </a:solidFill>
                <a:latin typeface="Calibri"/>
              </a:rPr>
              <a:t>Run </a:t>
            </a:r>
            <a:r>
              <a:rPr sz="1400" b="1" i="0">
                <a:solidFill>
                  <a:srgbClr val="23272D"/>
                </a:solidFill>
                <a:latin typeface="Calibri"/>
              </a:rPr>
              <a:t>B0–B5</a:t>
            </a:r>
            <a:r>
              <a:rPr sz="1400" b="0" i="0">
                <a:solidFill>
                  <a:srgbClr val="23272D"/>
                </a:solidFill>
                <a:latin typeface="Calibri"/>
              </a:rPr>
              <a:t>, both graders</a:t>
            </a:r>
          </a:p>
          <a:p>
            <a:pPr marL="199072" indent="-199072" algn="l">
              <a:spcAft>
                <a:spcPts val="400"/>
              </a:spcAft>
              <a:buClr>
                <a:srgbClr val="BC1C2F"/>
              </a:buClr>
              <a:buSzPts val="1400"/>
              <a:buFont typeface="Arial"/>
              <a:buChar char="•"/>
            </a:pPr>
            <a:r>
              <a:rPr sz="1400" b="0" i="0">
                <a:solidFill>
                  <a:srgbClr val="23272D"/>
                </a:solidFill>
                <a:latin typeface="Calibri"/>
              </a:rPr>
              <a:t>E2 on a </a:t>
            </a:r>
            <a:r>
              <a:rPr sz="1400" b="1" i="0">
                <a:solidFill>
                  <a:srgbClr val="23272D"/>
                </a:solidFill>
                <a:latin typeface="Calibri"/>
              </a:rPr>
              <a:t>train-only</a:t>
            </a:r>
            <a:r>
              <a:rPr sz="1400" b="0" i="0">
                <a:solidFill>
                  <a:srgbClr val="23272D"/>
                </a:solidFill>
                <a:latin typeface="Calibri"/>
              </a:rPr>
              <a:t> knowledge base</a:t>
            </a:r>
          </a:p>
          <a:p>
            <a:pPr marL="199072" indent="-199072" algn="l">
              <a:spcAft>
                <a:spcPts val="400"/>
              </a:spcAft>
              <a:buClr>
                <a:srgbClr val="BC1C2F"/>
              </a:buClr>
              <a:buSzPts val="1400"/>
              <a:buFont typeface="Arial"/>
              <a:buChar char="•"/>
            </a:pPr>
            <a:r>
              <a:rPr sz="1400" b="0" i="0">
                <a:solidFill>
                  <a:srgbClr val="23272D"/>
                </a:solidFill>
                <a:latin typeface="Calibri"/>
              </a:rPr>
              <a:t>Add precision, recall, F1, FNR</a:t>
            </a:r>
          </a:p>
          <a:p>
            <a:pPr marL="199072" indent="-199072" algn="l">
              <a:spcAft>
                <a:spcPts val="400"/>
              </a:spcAft>
              <a:buClr>
                <a:srgbClr val="BC1C2F"/>
              </a:buClr>
              <a:buSzPts val="1400"/>
              <a:buFont typeface="Arial"/>
              <a:buChar char="•"/>
            </a:pPr>
            <a:r>
              <a:rPr sz="1400" b="0" i="0">
                <a:solidFill>
                  <a:srgbClr val="23272D"/>
                </a:solidFill>
                <a:latin typeface="Calibri"/>
              </a:rPr>
              <a:t>Wire hybrid, rerank and gate into the detector</a:t>
            </a:r>
          </a:p>
          <a:p>
            <a:pPr marL="199072" indent="-199072" algn="l">
              <a:spcAft>
                <a:spcPts val="400"/>
              </a:spcAft>
              <a:buClr>
                <a:srgbClr val="BC1C2F"/>
              </a:buClr>
              <a:buSzPts val="1400"/>
              <a:buFont typeface="Arial"/>
              <a:buChar char="•"/>
            </a:pPr>
            <a:r>
              <a:rPr sz="1400" b="0" i="0">
                <a:solidFill>
                  <a:srgbClr val="23272D"/>
                </a:solidFill>
                <a:latin typeface="Calibri"/>
              </a:rPr>
              <a:t>Check the judge on human labels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39"/>
          <p:cNvSpPr txBox="1"/>
          <p:nvPr/>
        </p:nvSpPr>
        <p:spPr>
          <a:xfrm>
            <a:off x="4203954" y="1988820"/>
            <a:ext cx="4526280" cy="754379"/>
          </a:xfrm>
          <a:prstGeom prst="rect">
            <a:avLst/>
          </a:prstGeom>
          <a:noFill/>
          <a:ln>
            <a:noFill/>
          </a:ln>
        </p:spPr>
        <p:txBody>
          <a:bodyPr spcFirstLastPara="1" wrap="square" lIns="34275" tIns="20550" rIns="34275" bIns="20550" anchor="ctr" anchorCtr="0">
            <a:spAutoFit/>
          </a:bodyPr>
          <a:lstStyle/>
          <a:p>
            <a:pPr marL="0" marR="0" lvl="0" indent="0" algn="l" rtl="0">
              <a:lnSpc>
                <a:spcPct val="100000"/>
              </a:lnSpc>
              <a:spcBef>
                <a:spcPts val="0"/>
              </a:spcBef>
              <a:spcAft>
                <a:spcPts val="0"/>
              </a:spcAft>
              <a:buNone/>
            </a:pPr>
            <a:r>
              <a:rPr lang="en-US" sz="4500" b="1" i="0" u="none" strike="noStrike" cap="none">
                <a:solidFill>
                  <a:srgbClr val="C00000"/>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sp>
        <p:nvSpPr>
          <p:cNvPr id="591" name="Google Shape;591;p39"/>
          <p:cNvSpPr txBox="1"/>
          <p:nvPr/>
        </p:nvSpPr>
        <p:spPr>
          <a:xfrm>
            <a:off x="4231386" y="2743200"/>
            <a:ext cx="4526280" cy="342900"/>
          </a:xfrm>
          <a:prstGeom prst="rect">
            <a:avLst/>
          </a:prstGeom>
          <a:noFill/>
          <a:ln>
            <a:noFill/>
          </a:ln>
        </p:spPr>
        <p:txBody>
          <a:bodyPr spcFirstLastPara="1" wrap="square" lIns="34275" tIns="20550" rIns="34275" bIns="20550" anchor="t" anchorCtr="0">
            <a:spAutoFit/>
          </a:bodyPr>
          <a:lstStyle/>
          <a:p>
            <a:pPr marL="0" marR="0" lvl="0" indent="0" algn="l" rtl="0">
              <a:lnSpc>
                <a:spcPct val="100000"/>
              </a:lnSpc>
              <a:spcBef>
                <a:spcPts val="0"/>
              </a:spcBef>
              <a:spcAft>
                <a:spcPts val="0"/>
              </a:spcAft>
              <a:buNone/>
            </a:pPr>
            <a:r>
              <a:rPr lang="en-US" sz="1650" b="0" i="0" u="none" strike="noStrike" cap="none">
                <a:solidFill>
                  <a:srgbClr val="555C64"/>
                </a:solidFill>
                <a:latin typeface="Calibri"/>
                <a:ea typeface="Calibri"/>
                <a:cs typeface="Calibri"/>
                <a:sym typeface="Calibri"/>
              </a:rPr>
              <a:t>Questions and discussion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4454</Words>
  <Application>Microsoft Office PowerPoint</Application>
  <PresentationFormat>On-screen Show (16:9)</PresentationFormat>
  <Paragraphs>532</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Huy Chien Hoang</cp:lastModifiedBy>
  <cp:revision>2</cp:revision>
  <dcterms:modified xsi:type="dcterms:W3CDTF">2026-10-25T07:25:32Z</dcterms:modified>
</cp:coreProperties>
</file>